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75" r:id="rId1"/>
  </p:sldMasterIdLst>
  <p:notesMasterIdLst>
    <p:notesMasterId r:id="rId14"/>
  </p:notesMasterIdLst>
  <p:sldIdLst>
    <p:sldId id="256" r:id="rId2"/>
    <p:sldId id="257" r:id="rId3"/>
    <p:sldId id="261" r:id="rId4"/>
    <p:sldId id="264" r:id="rId5"/>
    <p:sldId id="266" r:id="rId6"/>
    <p:sldId id="263" r:id="rId7"/>
    <p:sldId id="269" r:id="rId8"/>
    <p:sldId id="267" r:id="rId9"/>
    <p:sldId id="268" r:id="rId10"/>
    <p:sldId id="258" r:id="rId11"/>
    <p:sldId id="265" r:id="rId12"/>
    <p:sldId id="262" r:id="rId1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B2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04EE73-1A24-F102-2242-3A5191451226}" v="15" dt="2026-06-11T22:01:35.525"/>
    <p1510:client id="{2CBCD3F7-756F-2689-AA3F-F31E6D394F74}" v="351" dt="2026-06-11T21:08:39.005"/>
    <p1510:client id="{361FCE06-A26C-E24B-B33D-274D1E9FD63C}" v="596" dt="2026-06-11T22:00:39.260"/>
    <p1510:client id="{39935BA7-D755-E5FB-8807-22AB2BA3658E}" v="954" dt="2026-06-11T21:13:50.423"/>
    <p1510:client id="{4DBB9974-1AAE-98BD-A4D1-46015A2128EC}" v="380" dt="2026-06-12T03:48:50.361"/>
    <p1510:client id="{53F43C04-B389-94BF-DA11-B22F28701334}" v="91" dt="2026-06-11T15:36:24.105"/>
    <p1510:client id="{D61D99F2-FCA9-E024-A20D-DFA6B2DCE551}" v="620" dt="2026-06-12T00:09:20.0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6e38c1fb37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6e38c1fb37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6e38c1fb3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6e38c1fb37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200150" y="1790058"/>
            <a:ext cx="6743700" cy="1234440"/>
          </a:xfrm>
          <a:solidFill>
            <a:srgbClr val="FFFFFF"/>
          </a:solidFill>
          <a:ln w="38100">
            <a:solidFill>
              <a:srgbClr val="404040"/>
            </a:solidFill>
          </a:ln>
        </p:spPr>
        <p:txBody>
          <a:bodyPr lIns="274320" rIns="274320" anchor="ctr" anchorCtr="1">
            <a:normAutofit/>
          </a:bodyPr>
          <a:lstStyle>
            <a:lvl1pPr algn="ctr">
              <a:defRPr sz="2850">
                <a:solidFill>
                  <a:srgbClr val="262626"/>
                </a:solidFill>
              </a:defRPr>
            </a:lvl1pPr>
          </a:lstStyle>
          <a:p>
            <a:r>
              <a:rPr lang="en-US"/>
              <a:t>Click to edit Master title style</a:t>
            </a:r>
          </a:p>
        </p:txBody>
      </p:sp>
      <p:sp>
        <p:nvSpPr>
          <p:cNvPr id="3" name="Subtitle 2"/>
          <p:cNvSpPr>
            <a:spLocks noGrp="1"/>
          </p:cNvSpPr>
          <p:nvPr>
            <p:ph type="subTitle" idx="1"/>
          </p:nvPr>
        </p:nvSpPr>
        <p:spPr>
          <a:xfrm>
            <a:off x="2021396" y="3264408"/>
            <a:ext cx="5101209" cy="929921"/>
          </a:xfrm>
          <a:noFill/>
        </p:spPr>
        <p:txBody>
          <a:bodyPr>
            <a:normAutofit/>
          </a:bodyPr>
          <a:lstStyle>
            <a:lvl1pPr marL="0" indent="0" algn="ctr">
              <a:buNone/>
              <a:defRPr sz="1500">
                <a:solidFill>
                  <a:schemeClr val="tx1">
                    <a:lumMod val="75000"/>
                    <a:lumOff val="2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7" name="Date Placeholder 6"/>
          <p:cNvSpPr>
            <a:spLocks noGrp="1"/>
          </p:cNvSpPr>
          <p:nvPr>
            <p:ph type="dt" sz="half" idx="10"/>
          </p:nvPr>
        </p:nvSpPr>
        <p:spPr/>
        <p:txBody>
          <a:bodyPr/>
          <a:lstStyle/>
          <a:p>
            <a:fld id="{B61BEF0D-F0BB-DE4B-95CE-6DB70DBA9567}"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7274007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07716986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200150" y="1790058"/>
            <a:ext cx="6743700" cy="1234440"/>
          </a:xfrm>
          <a:solidFill>
            <a:srgbClr val="FFFFFF"/>
          </a:solidFill>
          <a:ln w="38100">
            <a:solidFill>
              <a:srgbClr val="404040"/>
            </a:solidFill>
          </a:ln>
        </p:spPr>
        <p:txBody>
          <a:bodyPr lIns="274320" rIns="274320" anchor="ctr" anchorCtr="1">
            <a:normAutofit/>
          </a:bodyPr>
          <a:lstStyle>
            <a:lvl1pPr>
              <a:defRPr sz="2850">
                <a:solidFill>
                  <a:srgbClr val="262626"/>
                </a:solidFill>
              </a:defRPr>
            </a:lvl1pPr>
          </a:lstStyle>
          <a:p>
            <a:r>
              <a:rPr lang="en-US"/>
              <a:t>Click to edit Master title style</a:t>
            </a:r>
          </a:p>
        </p:txBody>
      </p:sp>
      <p:sp>
        <p:nvSpPr>
          <p:cNvPr id="3" name="Text Placeholder 2"/>
          <p:cNvSpPr>
            <a:spLocks noGrp="1"/>
          </p:cNvSpPr>
          <p:nvPr>
            <p:ph type="body" idx="1"/>
          </p:nvPr>
        </p:nvSpPr>
        <p:spPr>
          <a:xfrm>
            <a:off x="2021396" y="3264349"/>
            <a:ext cx="5101209" cy="948812"/>
          </a:xfrm>
        </p:spPr>
        <p:txBody>
          <a:bodyPr anchor="t" anchorCtr="1">
            <a:normAutofit/>
          </a:bodyPr>
          <a:lstStyle>
            <a:lvl1pPr marL="0" indent="0">
              <a:buNone/>
              <a:defRPr sz="15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B61BEF0D-F0BB-DE4B-95CE-6DB70DBA9567}"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84513709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6434" y="1978533"/>
            <a:ext cx="3203828" cy="2326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53737" y="1978533"/>
            <a:ext cx="3202685" cy="2326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B61BEF0D-F0BB-DE4B-95CE-6DB70DBA9567}" type="datetimeFigureOut">
              <a:rPr lang="en-US" smtClean="0"/>
              <a:pPr/>
              <a:t>6/11/2026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8246487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87577" y="1735075"/>
            <a:ext cx="3202686"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187577" y="2357438"/>
            <a:ext cx="3202686" cy="19475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753737" y="2357438"/>
            <a:ext cx="3190113" cy="1947582"/>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13"/>
          </p:nvPr>
        </p:nvSpPr>
        <p:spPr>
          <a:xfrm>
            <a:off x="4753737" y="1735075"/>
            <a:ext cx="3202686"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Date Placeholder 6"/>
          <p:cNvSpPr>
            <a:spLocks noGrp="1"/>
          </p:cNvSpPr>
          <p:nvPr>
            <p:ph type="dt" sz="half" idx="10"/>
          </p:nvPr>
        </p:nvSpPr>
        <p:spPr/>
        <p:txBody>
          <a:bodyPr/>
          <a:lstStyle/>
          <a:p>
            <a:fld id="{B61BEF0D-F0BB-DE4B-95CE-6DB70DBA9567}"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29764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94620418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198181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03504" y="1682871"/>
            <a:ext cx="3364992" cy="856123"/>
          </a:xfrm>
          <a:solidFill>
            <a:srgbClr val="FFFFFF"/>
          </a:solidFill>
          <a:ln>
            <a:solidFill>
              <a:srgbClr val="404040"/>
            </a:solidFill>
          </a:ln>
        </p:spPr>
        <p:txBody>
          <a:bodyPr anchor="ctr" anchorCtr="1">
            <a:normAutofit/>
          </a:bodyPr>
          <a:lstStyle>
            <a:lvl1pPr>
              <a:defRPr sz="1650">
                <a:solidFill>
                  <a:srgbClr val="262626"/>
                </a:solidFill>
              </a:defRPr>
            </a:lvl1pPr>
          </a:lstStyle>
          <a:p>
            <a:r>
              <a:rPr lang="en-US"/>
              <a:t>Click to edit Master title style</a:t>
            </a:r>
          </a:p>
        </p:txBody>
      </p:sp>
      <p:sp>
        <p:nvSpPr>
          <p:cNvPr id="3" name="Content Placeholder 2"/>
          <p:cNvSpPr>
            <a:spLocks noGrp="1"/>
          </p:cNvSpPr>
          <p:nvPr>
            <p:ph idx="1"/>
          </p:nvPr>
        </p:nvSpPr>
        <p:spPr>
          <a:xfrm>
            <a:off x="5052060" y="603504"/>
            <a:ext cx="3611880" cy="3936492"/>
          </a:xfrm>
        </p:spPr>
        <p:txBody>
          <a:bodyPr>
            <a:normAutofit/>
          </a:bodyPr>
          <a:lstStyle>
            <a:lvl1pPr>
              <a:defRPr sz="1425">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6676" y="2662439"/>
            <a:ext cx="2846070" cy="1645527"/>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9" name="Date Placeholder 8"/>
          <p:cNvSpPr>
            <a:spLocks noGrp="1"/>
          </p:cNvSpPr>
          <p:nvPr>
            <p:ph type="dt" sz="half" idx="10"/>
          </p:nvPr>
        </p:nvSpPr>
        <p:spPr/>
        <p:txBody>
          <a:bodyPr/>
          <a:lstStyle/>
          <a:p>
            <a:fld id="{B61BEF0D-F0BB-DE4B-95CE-6DB70DBA9567}" type="datetimeFigureOut">
              <a:rPr lang="en-US" smtClean="0"/>
              <a:pPr/>
              <a:t>6/11/2026</a:t>
            </a:fld>
            <a:endParaRPr lang="en-US"/>
          </a:p>
        </p:txBody>
      </p:sp>
      <p:sp>
        <p:nvSpPr>
          <p:cNvPr id="10" name="Footer Placeholder 9"/>
          <p:cNvSpPr>
            <a:spLocks noGrp="1"/>
          </p:cNvSpPr>
          <p:nvPr>
            <p:ph type="ftr" sz="quarter" idx="11"/>
          </p:nvPr>
        </p:nvSpPr>
        <p:spPr>
          <a:xfrm>
            <a:off x="603504" y="4677156"/>
            <a:ext cx="3843598" cy="24003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79651307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571999"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06392" y="1682871"/>
            <a:ext cx="3371249" cy="850980"/>
          </a:xfrm>
          <a:solidFill>
            <a:srgbClr val="FFFFFF"/>
          </a:solidFill>
          <a:ln>
            <a:solidFill>
              <a:srgbClr val="404040"/>
            </a:solidFill>
          </a:ln>
        </p:spPr>
        <p:txBody>
          <a:bodyPr anchor="ctr" anchorCtr="1">
            <a:noAutofit/>
          </a:bodyPr>
          <a:lstStyle>
            <a:lvl1pPr>
              <a:defRPr sz="1650">
                <a:solidFill>
                  <a:srgbClr val="262626"/>
                </a:solidFill>
              </a:defRPr>
            </a:lvl1pPr>
          </a:lstStyle>
          <a:p>
            <a:r>
              <a:rPr lang="en-US"/>
              <a:t>Click to edit Master title style</a:t>
            </a:r>
          </a:p>
        </p:txBody>
      </p:sp>
      <p:sp>
        <p:nvSpPr>
          <p:cNvPr id="3" name="Picture Placeholder 2"/>
          <p:cNvSpPr>
            <a:spLocks noGrp="1" noChangeAspect="1"/>
          </p:cNvSpPr>
          <p:nvPr>
            <p:ph type="pic" idx="1"/>
          </p:nvPr>
        </p:nvSpPr>
        <p:spPr>
          <a:xfrm>
            <a:off x="4572000" y="0"/>
            <a:ext cx="4576573" cy="5143500"/>
          </a:xfrm>
          <a:solidFill>
            <a:schemeClr val="bg1">
              <a:lumMod val="75000"/>
            </a:schemeClr>
          </a:solidFill>
        </p:spPr>
        <p:txBody>
          <a:bodyPr anchor="t"/>
          <a:lstStyle>
            <a:lvl1pPr marL="0" indent="0">
              <a:buNone/>
              <a:defRPr sz="2400">
                <a:solidFill>
                  <a:schemeClr val="bg1">
                    <a:lumMod val="85000"/>
                    <a:lumOff val="15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836676" y="2662439"/>
            <a:ext cx="2846070" cy="1645528"/>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B61BEF0D-F0BB-DE4B-95CE-6DB70DBA9567}" type="datetimeFigureOut">
              <a:rPr lang="en-US" smtClean="0"/>
              <a:pPr/>
              <a:t>6/11/2026</a:t>
            </a:fld>
            <a:endParaRPr lang="en-US"/>
          </a:p>
        </p:txBody>
      </p:sp>
      <p:sp>
        <p:nvSpPr>
          <p:cNvPr id="9" name="Footer Placeholder 8"/>
          <p:cNvSpPr>
            <a:spLocks noGrp="1"/>
          </p:cNvSpPr>
          <p:nvPr>
            <p:ph type="ftr" sz="quarter" idx="11"/>
          </p:nvPr>
        </p:nvSpPr>
        <p:spPr>
          <a:xfrm>
            <a:off x="603504" y="4677156"/>
            <a:ext cx="3843598" cy="24003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22383688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50016112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702945"/>
            <a:ext cx="973956" cy="373761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673352" y="702945"/>
            <a:ext cx="4648867" cy="373761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88059440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816841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73352" y="723519"/>
            <a:ext cx="5797296" cy="89154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1673352" y="1978534"/>
            <a:ext cx="5797296" cy="232648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866072" y="4679112"/>
            <a:ext cx="2065310" cy="242976"/>
          </a:xfrm>
          <a:prstGeom prst="rect">
            <a:avLst/>
          </a:prstGeom>
        </p:spPr>
        <p:txBody>
          <a:bodyPr vert="horz" lIns="91440" tIns="45720" rIns="91440" bIns="45720" rtlCol="0" anchor="ctr"/>
          <a:lstStyle>
            <a:lvl1pPr algn="r">
              <a:defRPr sz="788">
                <a:solidFill>
                  <a:schemeClr val="tx1">
                    <a:alpha val="70000"/>
                  </a:schemeClr>
                </a:solidFill>
              </a:defRPr>
            </a:lvl1pPr>
          </a:lstStyle>
          <a:p>
            <a:fld id="{B61BEF0D-F0BB-DE4B-95CE-6DB70DBA9567}" type="datetimeFigureOut">
              <a:rPr lang="en-US" smtClean="0"/>
              <a:pPr/>
              <a:t>6/11/2026</a:t>
            </a:fld>
            <a:endParaRPr lang="en-US"/>
          </a:p>
        </p:txBody>
      </p:sp>
      <p:sp>
        <p:nvSpPr>
          <p:cNvPr id="5" name="Footer Placeholder 4"/>
          <p:cNvSpPr>
            <a:spLocks noGrp="1"/>
          </p:cNvSpPr>
          <p:nvPr>
            <p:ph type="ftr" sz="quarter" idx="3"/>
          </p:nvPr>
        </p:nvSpPr>
        <p:spPr>
          <a:xfrm>
            <a:off x="1200150" y="4677156"/>
            <a:ext cx="4425892" cy="240030"/>
          </a:xfrm>
          <a:prstGeom prst="rect">
            <a:avLst/>
          </a:prstGeom>
        </p:spPr>
        <p:txBody>
          <a:bodyPr vert="horz" lIns="91440" tIns="45720" rIns="91440" bIns="45720" rtlCol="0" anchor="ctr"/>
          <a:lstStyle>
            <a:lvl1pPr algn="l">
              <a:defRPr sz="788">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8069192" y="4663440"/>
            <a:ext cx="274320" cy="274320"/>
          </a:xfrm>
          <a:prstGeom prst="ellipse">
            <a:avLst/>
          </a:prstGeom>
          <a:solidFill>
            <a:srgbClr val="1D1D1D">
              <a:alpha val="70000"/>
            </a:srgbClr>
          </a:solidFill>
        </p:spPr>
        <p:txBody>
          <a:bodyPr vert="horz" lIns="18288" tIns="45720" rIns="18288" bIns="45720" rtlCol="0" anchor="ctr">
            <a:noAutofit/>
          </a:bodyPr>
          <a:lstStyle>
            <a:lvl1pPr algn="ctr">
              <a:defRPr sz="825" spc="0" baseline="0">
                <a:solidFill>
                  <a:srgbClr val="FFFFFF"/>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660919510"/>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Lst>
  <p:hf sldNum="0" hdr="0" ftr="0" dt="0"/>
  <p:txStyles>
    <p:titleStyle>
      <a:lvl1pPr algn="ctr" defTabSz="685800" rtl="0" eaLnBrk="1" latinLnBrk="0" hangingPunct="1">
        <a:lnSpc>
          <a:spcPct val="90000"/>
        </a:lnSpc>
        <a:spcBef>
          <a:spcPct val="0"/>
        </a:spcBef>
        <a:buNone/>
        <a:defRPr sz="2100" kern="1200" cap="all" spc="150" baseline="0">
          <a:solidFill>
            <a:srgbClr val="262626"/>
          </a:solidFill>
          <a:latin typeface="+mj-lt"/>
          <a:ea typeface="+mj-ea"/>
          <a:cs typeface="+mj-cs"/>
        </a:defRPr>
      </a:lvl1pPr>
    </p:titleStyle>
    <p:bodyStyle>
      <a:lvl1pPr marL="171450" indent="-171450" algn="l" defTabSz="685800" rtl="0" eaLnBrk="1" latinLnBrk="0" hangingPunct="1">
        <a:lnSpc>
          <a:spcPct val="100000"/>
        </a:lnSpc>
        <a:spcBef>
          <a:spcPts val="750"/>
        </a:spcBef>
        <a:buClr>
          <a:schemeClr val="accent2"/>
        </a:buClr>
        <a:buFont typeface="Arial" panose="020B0604020202020204" pitchFamily="34" charset="0"/>
        <a:buChar char="•"/>
        <a:defRPr sz="1350" kern="1200">
          <a:solidFill>
            <a:schemeClr val="tx1">
              <a:lumMod val="85000"/>
              <a:lumOff val="15000"/>
            </a:schemeClr>
          </a:solidFill>
          <a:latin typeface="+mn-lt"/>
          <a:ea typeface="+mn-ea"/>
          <a:cs typeface="+mn-cs"/>
        </a:defRPr>
      </a:lvl1pPr>
      <a:lvl2pPr marL="3429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2pPr>
      <a:lvl3pPr marL="5143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3pPr>
      <a:lvl4pPr marL="6858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4pPr>
      <a:lvl5pPr marL="8572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5pPr>
      <a:lvl6pPr marL="984647"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6pPr>
      <a:lvl7pPr marL="1113235"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7pPr>
      <a:lvl8pPr marL="1243013"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8pPr>
      <a:lvl9pPr marL="1412081"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68939" y="0"/>
            <a:ext cx="8520600" cy="10461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4800" err="1"/>
              <a:t>Biosignal</a:t>
            </a:r>
            <a:r>
              <a:rPr lang="en" sz="4800"/>
              <a:t> Foundry</a:t>
            </a:r>
            <a:endParaRPr sz="4800"/>
          </a:p>
        </p:txBody>
      </p:sp>
      <p:sp>
        <p:nvSpPr>
          <p:cNvPr id="55" name="Google Shape;55;p13"/>
          <p:cNvSpPr txBox="1">
            <a:spLocks noGrp="1"/>
          </p:cNvSpPr>
          <p:nvPr>
            <p:ph type="subTitle" idx="1"/>
          </p:nvPr>
        </p:nvSpPr>
        <p:spPr>
          <a:xfrm>
            <a:off x="68939" y="3756438"/>
            <a:ext cx="8520600" cy="1600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tx1"/>
                </a:solidFill>
              </a:rPr>
              <a:t>Surya </a:t>
            </a:r>
            <a:r>
              <a:rPr lang="en" sz="1800" err="1">
                <a:solidFill>
                  <a:schemeClr val="tx1"/>
                </a:solidFill>
              </a:rPr>
              <a:t>Varchasvi</a:t>
            </a:r>
            <a:r>
              <a:rPr lang="en" sz="1800">
                <a:solidFill>
                  <a:schemeClr val="tx1"/>
                </a:solidFill>
              </a:rPr>
              <a:t> ,  Wenxin Zeng,  Yutong Wu, Syeda Fatima </a:t>
            </a:r>
            <a:r>
              <a:rPr lang="en" sz="1800" err="1">
                <a:solidFill>
                  <a:schemeClr val="tx1"/>
                </a:solidFill>
              </a:rPr>
              <a:t>Fayruj</a:t>
            </a:r>
            <a:r>
              <a:rPr lang="en" sz="1800">
                <a:solidFill>
                  <a:schemeClr val="tx1"/>
                </a:solidFill>
              </a:rPr>
              <a:t>, Leah Berube</a:t>
            </a:r>
          </a:p>
          <a:p>
            <a:pPr marL="0" lvl="0" indent="0" algn="ctr" rtl="0">
              <a:spcBef>
                <a:spcPts val="0"/>
              </a:spcBef>
              <a:spcAft>
                <a:spcPts val="0"/>
              </a:spcAft>
              <a:buNone/>
            </a:pPr>
            <a:r>
              <a:rPr lang="en" sz="1800">
                <a:solidFill>
                  <a:schemeClr val="dk1"/>
                </a:solidFill>
              </a:rPr>
              <a:t>		</a:t>
            </a:r>
            <a:endParaRPr sz="1800">
              <a:solidFill>
                <a:schemeClr val="dk1"/>
              </a:solidFill>
            </a:endParaRPr>
          </a:p>
        </p:txBody>
      </p:sp>
      <p:sp>
        <p:nvSpPr>
          <p:cNvPr id="56" name="Google Shape;56;p13"/>
          <p:cNvSpPr txBox="1">
            <a:spLocks noGrp="1"/>
          </p:cNvSpPr>
          <p:nvPr>
            <p:ph type="subTitle" idx="4294967295"/>
          </p:nvPr>
        </p:nvSpPr>
        <p:spPr>
          <a:xfrm>
            <a:off x="914400" y="4410160"/>
            <a:ext cx="6639908" cy="436970"/>
          </a:xfrm>
          <a:prstGeom prst="rect">
            <a:avLst/>
          </a:prstGeom>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800">
                <a:solidFill>
                  <a:schemeClr val="tx1"/>
                </a:solidFill>
              </a:rPr>
              <a:t>Contact email:	  sdevar02@tufts.edu </a:t>
            </a:r>
            <a:endParaRPr sz="1800">
              <a:solidFill>
                <a:schemeClr val="tx1"/>
              </a:solidFill>
            </a:endParaRPr>
          </a:p>
        </p:txBody>
      </p:sp>
      <p:sp>
        <p:nvSpPr>
          <p:cNvPr id="2" name="TextBox 1">
            <a:extLst>
              <a:ext uri="{FF2B5EF4-FFF2-40B4-BE49-F238E27FC236}">
                <a16:creationId xmlns:a16="http://schemas.microsoft.com/office/drawing/2014/main" id="{D34FBCDB-1F63-76AC-AC28-C80374F4D9F9}"/>
              </a:ext>
            </a:extLst>
          </p:cNvPr>
          <p:cNvSpPr txBox="1"/>
          <p:nvPr/>
        </p:nvSpPr>
        <p:spPr>
          <a:xfrm>
            <a:off x="356050" y="1398835"/>
            <a:ext cx="8156771" cy="2215991"/>
          </a:xfrm>
          <a:prstGeom prst="rect">
            <a:avLst/>
          </a:prstGeom>
          <a:noFill/>
        </p:spPr>
        <p:txBody>
          <a:bodyPr wrap="square" rtlCol="0">
            <a:spAutoFit/>
          </a:bodyPr>
          <a:lstStyle/>
          <a:p>
            <a:pPr algn="ctr"/>
            <a:r>
              <a:rPr lang="en-US" sz="3200" b="1">
                <a:latin typeface="+mj-lt"/>
              </a:rPr>
              <a:t>Ultra-Low-Power Event-Driven ECG Sensor SoC in GF180MCU</a:t>
            </a:r>
          </a:p>
          <a:p>
            <a:pPr algn="ctr"/>
            <a:endParaRPr lang="en-US" sz="2000" b="1">
              <a:latin typeface="+mj-lt"/>
            </a:endParaRPr>
          </a:p>
          <a:p>
            <a:pPr algn="ctr"/>
            <a:r>
              <a:rPr lang="en-US"/>
              <a:t>An analog-assisted cardiac feature extraction processor that directly extracts heartbeat timing information from ECG signals and outputs R-R intervals for heart-rate and heart-rate variability (HRV) monitoring.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rtl="0">
              <a:spcBef>
                <a:spcPts val="0"/>
              </a:spcBef>
              <a:spcAft>
                <a:spcPts val="0"/>
              </a:spcAft>
              <a:buNone/>
            </a:pPr>
            <a:r>
              <a:rPr lang="en"/>
              <a:t>Project information</a:t>
            </a:r>
            <a:endParaRPr/>
          </a:p>
        </p:txBody>
      </p:sp>
      <p:sp>
        <p:nvSpPr>
          <p:cNvPr id="62" name="Google Shape;62;p14"/>
          <p:cNvSpPr txBox="1">
            <a:spLocks noGrp="1"/>
          </p:cNvSpPr>
          <p:nvPr>
            <p:ph type="body" idx="1"/>
          </p:nvPr>
        </p:nvSpPr>
        <p:spPr>
          <a:prstGeom prst="rect">
            <a:avLst/>
          </a:prstGeom>
        </p:spPr>
        <p:txBody>
          <a:bodyPr spcFirstLastPara="1" wrap="square" lIns="91425" tIns="91425" rIns="91425" bIns="91425" anchor="t" anchorCtr="0">
            <a:normAutofit lnSpcReduction="10000"/>
          </a:bodyPr>
          <a:lstStyle/>
          <a:p>
            <a:pPr marL="114300" indent="0">
              <a:buNone/>
            </a:pPr>
            <a:r>
              <a:rPr lang="en-US" b="1" u="sng">
                <a:solidFill>
                  <a:schemeClr val="dk1"/>
                </a:solidFill>
              </a:rPr>
              <a:t>Overview: </a:t>
            </a:r>
            <a:r>
              <a:rPr lang="en-US" b="1">
                <a:solidFill>
                  <a:schemeClr val="dk1"/>
                </a:solidFill>
              </a:rPr>
              <a:t> </a:t>
            </a:r>
            <a:r>
              <a:rPr lang="en-US"/>
              <a:t>Traditional ECG systems continuously digitize the entire ECG waveform and perform signal processing digitally.  While effective, this approach increases power consumption and data bandwidth requirements.</a:t>
            </a:r>
          </a:p>
          <a:p>
            <a:pPr marL="114300" indent="0">
              <a:buNone/>
            </a:pPr>
            <a:endParaRPr lang="en-US"/>
          </a:p>
          <a:p>
            <a:pPr marL="114300" indent="0">
              <a:buNone/>
            </a:pPr>
            <a:r>
              <a:rPr lang="en-US"/>
              <a:t>This project explores an alternative architecture in which critical cardiac features are extracted directly in hardware before digitization. Instead of transmitting the full ECG waveform, the chip detects heartbeats and outputs cardiac timing information, enabling ultra-low-power operation for wearable and implantable biomedical devices.</a:t>
            </a:r>
          </a:p>
          <a:p>
            <a:pPr marL="114300" indent="0">
              <a:buNone/>
            </a:pPr>
            <a:endParaRPr lang="en-US"/>
          </a:p>
          <a:p>
            <a:pPr marL="114300" indent="0">
              <a:buNone/>
            </a:pPr>
            <a:r>
              <a:rPr lang="en-US" b="1"/>
              <a:t>Key Features</a:t>
            </a:r>
          </a:p>
          <a:p>
            <a:pPr marL="114300" indent="0">
              <a:buNone/>
            </a:pPr>
            <a:endParaRPr lang="en-US" b="1"/>
          </a:p>
          <a:p>
            <a:r>
              <a:rPr lang="en-US"/>
              <a:t>Ultra-low-power ECG acquisition</a:t>
            </a:r>
          </a:p>
          <a:p>
            <a:r>
              <a:rPr lang="en-US"/>
              <a:t>Analog-assisted QRS feature extraction</a:t>
            </a:r>
          </a:p>
          <a:p>
            <a:r>
              <a:rPr lang="en-US"/>
              <a:t>Real-time R-peak detection</a:t>
            </a:r>
          </a:p>
          <a:p>
            <a:r>
              <a:rPr lang="en-US"/>
              <a:t>Event-driven signal processing</a:t>
            </a:r>
          </a:p>
          <a:p>
            <a:r>
              <a:rPr lang="en-US"/>
              <a:t>Direct R-R interval measurement</a:t>
            </a:r>
          </a:p>
          <a:p>
            <a:r>
              <a:rPr lang="en-US"/>
              <a:t>Heart rate and HRV estimation</a:t>
            </a:r>
          </a:p>
          <a:p>
            <a:r>
              <a:rPr lang="en-US"/>
              <a:t>Minimal continuous ADC usage</a:t>
            </a:r>
          </a:p>
          <a:p>
            <a:r>
              <a:rPr lang="en-US"/>
              <a:t>Designed for wearable and implantable applications</a:t>
            </a:r>
          </a:p>
          <a:p>
            <a:pPr marL="114300" lvl="0" indent="0" algn="l" rtl="0">
              <a:spcBef>
                <a:spcPts val="1200"/>
              </a:spcBef>
              <a:spcAft>
                <a:spcPts val="0"/>
              </a:spcAft>
              <a:buClr>
                <a:schemeClr val="dk1"/>
              </a:buClr>
              <a:buSzPts val="1800"/>
              <a:buNone/>
            </a:pPr>
            <a:endParaRPr>
              <a:solidFill>
                <a:schemeClr val="dk1"/>
              </a:solidFill>
            </a:endParaRPr>
          </a:p>
          <a:p>
            <a:pPr marL="457200" lvl="0" indent="0" algn="l" rtl="0">
              <a:spcBef>
                <a:spcPts val="1200"/>
              </a:spcBef>
              <a:spcAft>
                <a:spcPts val="0"/>
              </a:spcAft>
              <a:buNone/>
            </a:pP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D8C89-6F93-0858-4052-EBC4B81DBE33}"/>
              </a:ext>
            </a:extLst>
          </p:cNvPr>
          <p:cNvSpPr>
            <a:spLocks noGrp="1"/>
          </p:cNvSpPr>
          <p:nvPr>
            <p:ph type="title"/>
          </p:nvPr>
        </p:nvSpPr>
        <p:spPr/>
        <p:txBody>
          <a:bodyPr/>
          <a:lstStyle/>
          <a:p>
            <a:r>
              <a:rPr lang="en-US"/>
              <a:t>System Architecture</a:t>
            </a:r>
          </a:p>
        </p:txBody>
      </p:sp>
      <p:pic>
        <p:nvPicPr>
          <p:cNvPr id="10" name="Picture 9">
            <a:extLst>
              <a:ext uri="{FF2B5EF4-FFF2-40B4-BE49-F238E27FC236}">
                <a16:creationId xmlns:a16="http://schemas.microsoft.com/office/drawing/2014/main" id="{BA6E098A-C8F7-3FA8-3C95-A4DC1C2D01D6}"/>
              </a:ext>
            </a:extLst>
          </p:cNvPr>
          <p:cNvPicPr>
            <a:picLocks noChangeAspect="1"/>
          </p:cNvPicPr>
          <p:nvPr/>
        </p:nvPicPr>
        <p:blipFill>
          <a:blip r:embed="rId2"/>
          <a:stretch>
            <a:fillRect/>
          </a:stretch>
        </p:blipFill>
        <p:spPr>
          <a:xfrm>
            <a:off x="6126348" y="1379789"/>
            <a:ext cx="2978431" cy="2383922"/>
          </a:xfrm>
          <a:prstGeom prst="rect">
            <a:avLst/>
          </a:prstGeom>
        </p:spPr>
      </p:pic>
      <p:pic>
        <p:nvPicPr>
          <p:cNvPr id="8" name="Picture 7">
            <a:extLst>
              <a:ext uri="{FF2B5EF4-FFF2-40B4-BE49-F238E27FC236}">
                <a16:creationId xmlns:a16="http://schemas.microsoft.com/office/drawing/2014/main" id="{3BD26F04-56E3-861D-5E4B-9DF2A6597CD6}"/>
              </a:ext>
            </a:extLst>
          </p:cNvPr>
          <p:cNvPicPr>
            <a:picLocks noChangeAspect="1"/>
          </p:cNvPicPr>
          <p:nvPr/>
        </p:nvPicPr>
        <p:blipFill>
          <a:blip r:embed="rId3"/>
          <a:stretch>
            <a:fillRect/>
          </a:stretch>
        </p:blipFill>
        <p:spPr>
          <a:xfrm>
            <a:off x="202883" y="1233715"/>
            <a:ext cx="5814134" cy="3268712"/>
          </a:xfrm>
          <a:prstGeom prst="rect">
            <a:avLst/>
          </a:prstGeom>
        </p:spPr>
      </p:pic>
      <p:pic>
        <p:nvPicPr>
          <p:cNvPr id="11" name="Picture 10">
            <a:extLst>
              <a:ext uri="{FF2B5EF4-FFF2-40B4-BE49-F238E27FC236}">
                <a16:creationId xmlns:a16="http://schemas.microsoft.com/office/drawing/2014/main" id="{8B99806E-113C-A7D4-2B46-F7D4B0A39E1E}"/>
              </a:ext>
            </a:extLst>
          </p:cNvPr>
          <p:cNvPicPr>
            <a:picLocks noChangeAspect="1"/>
          </p:cNvPicPr>
          <p:nvPr/>
        </p:nvPicPr>
        <p:blipFill>
          <a:blip r:embed="rId4"/>
          <a:stretch>
            <a:fillRect/>
          </a:stretch>
        </p:blipFill>
        <p:spPr>
          <a:xfrm rot="10800000">
            <a:off x="3937107" y="3067987"/>
            <a:ext cx="102849" cy="124502"/>
          </a:xfrm>
          <a:prstGeom prst="rect">
            <a:avLst/>
          </a:prstGeom>
        </p:spPr>
      </p:pic>
      <p:pic>
        <p:nvPicPr>
          <p:cNvPr id="13" name="Picture 12">
            <a:extLst>
              <a:ext uri="{FF2B5EF4-FFF2-40B4-BE49-F238E27FC236}">
                <a16:creationId xmlns:a16="http://schemas.microsoft.com/office/drawing/2014/main" id="{C8B049DA-ACD1-604C-5B8C-CC2E087F4905}"/>
              </a:ext>
            </a:extLst>
          </p:cNvPr>
          <p:cNvPicPr>
            <a:picLocks noChangeAspect="1"/>
          </p:cNvPicPr>
          <p:nvPr/>
        </p:nvPicPr>
        <p:blipFill>
          <a:blip r:embed="rId5"/>
          <a:stretch>
            <a:fillRect/>
          </a:stretch>
        </p:blipFill>
        <p:spPr>
          <a:xfrm>
            <a:off x="4695824" y="3067987"/>
            <a:ext cx="152400" cy="95250"/>
          </a:xfrm>
          <a:prstGeom prst="rect">
            <a:avLst/>
          </a:prstGeom>
        </p:spPr>
      </p:pic>
      <p:cxnSp>
        <p:nvCxnSpPr>
          <p:cNvPr id="19" name="Elbow Connector 18">
            <a:extLst>
              <a:ext uri="{FF2B5EF4-FFF2-40B4-BE49-F238E27FC236}">
                <a16:creationId xmlns:a16="http://schemas.microsoft.com/office/drawing/2014/main" id="{9C82319F-BCEE-8A52-B541-92694B16BE20}"/>
              </a:ext>
            </a:extLst>
          </p:cNvPr>
          <p:cNvCxnSpPr>
            <a:cxnSpLocks/>
          </p:cNvCxnSpPr>
          <p:nvPr/>
        </p:nvCxnSpPr>
        <p:spPr>
          <a:xfrm>
            <a:off x="3742267" y="3763711"/>
            <a:ext cx="1687689" cy="322867"/>
          </a:xfrm>
          <a:prstGeom prst="bentConnector3">
            <a:avLst>
              <a:gd name="adj1" fmla="val 63712"/>
            </a:avLst>
          </a:prstGeom>
          <a:ln w="9525">
            <a:tailEnd type="triangle"/>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8D8F2013-4E28-AA53-0C8A-A11CC535E378}"/>
              </a:ext>
            </a:extLst>
          </p:cNvPr>
          <p:cNvCxnSpPr/>
          <p:nvPr/>
        </p:nvCxnSpPr>
        <p:spPr>
          <a:xfrm>
            <a:off x="3742267" y="3296356"/>
            <a:ext cx="0" cy="467355"/>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Elbow Connector 30">
            <a:extLst>
              <a:ext uri="{FF2B5EF4-FFF2-40B4-BE49-F238E27FC236}">
                <a16:creationId xmlns:a16="http://schemas.microsoft.com/office/drawing/2014/main" id="{FDCB3F04-22C9-49CD-B506-7D2CDB9C14B3}"/>
              </a:ext>
            </a:extLst>
          </p:cNvPr>
          <p:cNvCxnSpPr>
            <a:cxnSpLocks/>
          </p:cNvCxnSpPr>
          <p:nvPr/>
        </p:nvCxnSpPr>
        <p:spPr>
          <a:xfrm rot="10800000" flipV="1">
            <a:off x="2840479" y="2851997"/>
            <a:ext cx="680934" cy="131152"/>
          </a:xfrm>
          <a:prstGeom prst="bentConnector3">
            <a:avLst>
              <a:gd name="adj1" fmla="val 50000"/>
            </a:avLst>
          </a:prstGeom>
          <a:ln w="9525">
            <a:tailEnd type="triangle"/>
          </a:ln>
        </p:spPr>
        <p:style>
          <a:lnRef idx="1">
            <a:schemeClr val="dk1"/>
          </a:lnRef>
          <a:fillRef idx="0">
            <a:schemeClr val="dk1"/>
          </a:fillRef>
          <a:effectRef idx="0">
            <a:schemeClr val="dk1"/>
          </a:effectRef>
          <a:fontRef idx="minor">
            <a:schemeClr val="tx1"/>
          </a:fontRef>
        </p:style>
      </p:cxnSp>
      <p:cxnSp>
        <p:nvCxnSpPr>
          <p:cNvPr id="36" name="Elbow Connector 35">
            <a:extLst>
              <a:ext uri="{FF2B5EF4-FFF2-40B4-BE49-F238E27FC236}">
                <a16:creationId xmlns:a16="http://schemas.microsoft.com/office/drawing/2014/main" id="{6DCD8B62-56BE-8559-0E5E-6E61381E8D11}"/>
              </a:ext>
            </a:extLst>
          </p:cNvPr>
          <p:cNvCxnSpPr>
            <a:cxnSpLocks/>
          </p:cNvCxnSpPr>
          <p:nvPr/>
        </p:nvCxnSpPr>
        <p:spPr>
          <a:xfrm>
            <a:off x="3521413" y="2851997"/>
            <a:ext cx="1326811" cy="215990"/>
          </a:xfrm>
          <a:prstGeom prst="bentConnector3">
            <a:avLst/>
          </a:prstGeom>
          <a:ln w="9525"/>
        </p:spPr>
        <p:style>
          <a:lnRef idx="1">
            <a:schemeClr val="dk1"/>
          </a:lnRef>
          <a:fillRef idx="0">
            <a:schemeClr val="dk1"/>
          </a:fillRef>
          <a:effectRef idx="0">
            <a:schemeClr val="dk1"/>
          </a:effectRef>
          <a:fontRef idx="minor">
            <a:schemeClr val="tx1"/>
          </a:fontRef>
        </p:style>
      </p:cxnSp>
      <p:pic>
        <p:nvPicPr>
          <p:cNvPr id="39" name="Picture 38">
            <a:extLst>
              <a:ext uri="{FF2B5EF4-FFF2-40B4-BE49-F238E27FC236}">
                <a16:creationId xmlns:a16="http://schemas.microsoft.com/office/drawing/2014/main" id="{048330FC-6463-5E78-EB67-0DFAA054A71B}"/>
              </a:ext>
            </a:extLst>
          </p:cNvPr>
          <p:cNvPicPr>
            <a:picLocks noChangeAspect="1"/>
          </p:cNvPicPr>
          <p:nvPr/>
        </p:nvPicPr>
        <p:blipFill>
          <a:blip r:embed="rId6"/>
          <a:stretch>
            <a:fillRect/>
          </a:stretch>
        </p:blipFill>
        <p:spPr>
          <a:xfrm>
            <a:off x="3937106" y="3089157"/>
            <a:ext cx="911118" cy="124503"/>
          </a:xfrm>
          <a:prstGeom prst="rect">
            <a:avLst/>
          </a:prstGeom>
        </p:spPr>
      </p:pic>
    </p:spTree>
    <p:extLst>
      <p:ext uri="{BB962C8B-B14F-4D97-AF65-F5344CB8AC3E}">
        <p14:creationId xmlns:p14="http://schemas.microsoft.com/office/powerpoint/2010/main" val="599317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22BD8-640D-2B37-8665-377CEC7135FC}"/>
              </a:ext>
            </a:extLst>
          </p:cNvPr>
          <p:cNvSpPr>
            <a:spLocks noGrp="1"/>
          </p:cNvSpPr>
          <p:nvPr>
            <p:ph type="title"/>
          </p:nvPr>
        </p:nvSpPr>
        <p:spPr/>
        <p:txBody>
          <a:bodyPr/>
          <a:lstStyle/>
          <a:p>
            <a:r>
              <a:rPr lang="en-US"/>
              <a:t>Chopper Stabilized INSTRUMENTATION Amplifier</a:t>
            </a:r>
            <a:endParaRPr lang="en-US" dirty="0"/>
          </a:p>
        </p:txBody>
      </p:sp>
      <p:graphicFrame>
        <p:nvGraphicFramePr>
          <p:cNvPr id="6" name="Table 5">
            <a:extLst>
              <a:ext uri="{FF2B5EF4-FFF2-40B4-BE49-F238E27FC236}">
                <a16:creationId xmlns:a16="http://schemas.microsoft.com/office/drawing/2014/main" id="{7AAF2B02-EDA3-DD77-5525-4B3A08D2E308}"/>
              </a:ext>
            </a:extLst>
          </p:cNvPr>
          <p:cNvGraphicFramePr>
            <a:graphicFrameLocks noGrp="1"/>
          </p:cNvGraphicFramePr>
          <p:nvPr>
            <p:extLst>
              <p:ext uri="{D42A27DB-BD31-4B8C-83A1-F6EECF244321}">
                <p14:modId xmlns:p14="http://schemas.microsoft.com/office/powerpoint/2010/main" val="2620392045"/>
              </p:ext>
            </p:extLst>
          </p:nvPr>
        </p:nvGraphicFramePr>
        <p:xfrm>
          <a:off x="5235147" y="1152475"/>
          <a:ext cx="3277674" cy="3727020"/>
        </p:xfrm>
        <a:graphic>
          <a:graphicData uri="http://schemas.openxmlformats.org/drawingml/2006/table">
            <a:tbl>
              <a:tblPr/>
              <a:tblGrid>
                <a:gridCol w="1906039">
                  <a:extLst>
                    <a:ext uri="{9D8B030D-6E8A-4147-A177-3AD203B41FA5}">
                      <a16:colId xmlns:a16="http://schemas.microsoft.com/office/drawing/2014/main" val="1900272270"/>
                    </a:ext>
                  </a:extLst>
                </a:gridCol>
                <a:gridCol w="1371635">
                  <a:extLst>
                    <a:ext uri="{9D8B030D-6E8A-4147-A177-3AD203B41FA5}">
                      <a16:colId xmlns:a16="http://schemas.microsoft.com/office/drawing/2014/main" val="113793774"/>
                    </a:ext>
                  </a:extLst>
                </a:gridCol>
              </a:tblGrid>
              <a:tr h="310585">
                <a:tc>
                  <a:txBody>
                    <a:bodyPr/>
                    <a:lstStyle/>
                    <a:p>
                      <a:pPr algn="l" fontAlgn="base">
                        <a:lnSpc>
                          <a:spcPts val="1650"/>
                        </a:lnSpc>
                        <a:buNone/>
                      </a:pPr>
                      <a:r>
                        <a:rPr lang="en-US" sz="1200" b="1" i="0" u="none" strike="noStrike">
                          <a:solidFill>
                            <a:schemeClr val="tx1"/>
                          </a:solidFill>
                          <a:effectLst/>
                          <a:latin typeface="Arial"/>
                        </a:rPr>
                        <a:t>INA Parameter</a:t>
                      </a:r>
                      <a:r>
                        <a:rPr lang="en-US" sz="1200" b="1" i="0">
                          <a:solidFill>
                            <a:schemeClr val="tx1"/>
                          </a:solidFill>
                          <a:effectLst/>
                          <a:latin typeface="Arial"/>
                        </a:rPr>
                        <a:t>​</a:t>
                      </a: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200" b="1" i="0" u="none" strike="noStrike">
                          <a:solidFill>
                            <a:schemeClr val="tx1"/>
                          </a:solidFill>
                          <a:effectLst/>
                          <a:latin typeface="Arial"/>
                        </a:rPr>
                        <a:t>Target</a:t>
                      </a:r>
                      <a:r>
                        <a:rPr lang="en-US" sz="1200" b="1" i="0">
                          <a:solidFill>
                            <a:schemeClr val="tx1"/>
                          </a:solidFill>
                          <a:effectLst/>
                          <a:latin typeface="Arial"/>
                        </a:rPr>
                        <a:t>​</a:t>
                      </a: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46422434"/>
                  </a:ext>
                </a:extLst>
              </a:tr>
              <a:tr h="310585">
                <a:tc>
                  <a:txBody>
                    <a:bodyPr/>
                    <a:lstStyle/>
                    <a:p>
                      <a:pPr algn="l" fontAlgn="base">
                        <a:lnSpc>
                          <a:spcPts val="1650"/>
                        </a:lnSpc>
                        <a:buNone/>
                      </a:pPr>
                      <a:r>
                        <a:rPr lang="en-US" sz="1200" b="0" i="0" u="none" strike="noStrike">
                          <a:solidFill>
                            <a:schemeClr val="tx1"/>
                          </a:solidFill>
                          <a:effectLst/>
                          <a:latin typeface="Arial"/>
                        </a:rPr>
                        <a:t>Supply</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200" b="0" i="0" u="none" strike="noStrike">
                          <a:solidFill>
                            <a:schemeClr val="tx1"/>
                          </a:solidFill>
                          <a:effectLst/>
                          <a:latin typeface="Arial"/>
                        </a:rPr>
                        <a:t>3.3 V</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8675055"/>
                  </a:ext>
                </a:extLst>
              </a:tr>
              <a:tr h="310585">
                <a:tc>
                  <a:txBody>
                    <a:bodyPr/>
                    <a:lstStyle/>
                    <a:p>
                      <a:pPr algn="l" fontAlgn="base">
                        <a:lnSpc>
                          <a:spcPts val="1650"/>
                        </a:lnSpc>
                        <a:buNone/>
                      </a:pPr>
                      <a:r>
                        <a:rPr lang="en-US" sz="1200" b="0" i="0" u="none" strike="noStrike">
                          <a:solidFill>
                            <a:schemeClr val="tx1"/>
                          </a:solidFill>
                          <a:effectLst/>
                          <a:latin typeface="Arial"/>
                        </a:rPr>
                        <a:t>Gain</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200" b="0" i="0" u="none" strike="noStrike">
                          <a:solidFill>
                            <a:schemeClr val="tx1"/>
                          </a:solidFill>
                          <a:effectLst/>
                          <a:latin typeface="Arial"/>
                        </a:rPr>
                        <a:t>40 dB</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43143940"/>
                  </a:ext>
                </a:extLst>
              </a:tr>
              <a:tr h="310585">
                <a:tc>
                  <a:txBody>
                    <a:bodyPr/>
                    <a:lstStyle/>
                    <a:p>
                      <a:pPr algn="l" fontAlgn="base">
                        <a:lnSpc>
                          <a:spcPts val="1650"/>
                        </a:lnSpc>
                        <a:buNone/>
                      </a:pPr>
                      <a:r>
                        <a:rPr lang="en-US" sz="1200" b="0" i="0" u="none" strike="noStrike">
                          <a:solidFill>
                            <a:schemeClr val="tx1"/>
                          </a:solidFill>
                          <a:effectLst/>
                          <a:latin typeface="Arial"/>
                        </a:rPr>
                        <a:t>Passband</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200" b="0" i="0" u="none" strike="noStrike">
                          <a:solidFill>
                            <a:schemeClr val="tx1"/>
                          </a:solidFill>
                          <a:effectLst/>
                          <a:latin typeface="Arial"/>
                        </a:rPr>
                        <a:t>0.05 – 150 Hz</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4497786"/>
                  </a:ext>
                </a:extLst>
              </a:tr>
              <a:tr h="310585">
                <a:tc>
                  <a:txBody>
                    <a:bodyPr/>
                    <a:lstStyle/>
                    <a:p>
                      <a:pPr algn="l" fontAlgn="base">
                        <a:lnSpc>
                          <a:spcPts val="1650"/>
                        </a:lnSpc>
                        <a:buNone/>
                      </a:pPr>
                      <a:r>
                        <a:rPr lang="en-US" sz="1200" b="0" i="0" u="none" strike="noStrike">
                          <a:solidFill>
                            <a:schemeClr val="tx1"/>
                          </a:solidFill>
                          <a:effectLst/>
                          <a:latin typeface="Arial"/>
                        </a:rPr>
                        <a:t>Input/Output CM</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200" b="0" i="0" u="none" strike="noStrike">
                          <a:solidFill>
                            <a:schemeClr val="tx1"/>
                          </a:solidFill>
                          <a:effectLst/>
                          <a:latin typeface="Arial"/>
                        </a:rPr>
                        <a:t>1.65 V</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7583806"/>
                  </a:ext>
                </a:extLst>
              </a:tr>
              <a:tr h="310585">
                <a:tc>
                  <a:txBody>
                    <a:bodyPr/>
                    <a:lstStyle/>
                    <a:p>
                      <a:pPr algn="l" fontAlgn="base">
                        <a:lnSpc>
                          <a:spcPts val="1650"/>
                        </a:lnSpc>
                        <a:buNone/>
                      </a:pPr>
                      <a:r>
                        <a:rPr lang="en-US" sz="1200" b="0" i="0" u="none" strike="noStrike">
                          <a:solidFill>
                            <a:schemeClr val="tx1"/>
                          </a:solidFill>
                          <a:effectLst/>
                          <a:latin typeface="Arial"/>
                        </a:rPr>
                        <a:t>Output Swing</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200" b="0" i="0" u="none" strike="noStrike">
                          <a:solidFill>
                            <a:schemeClr val="tx1"/>
                          </a:solidFill>
                          <a:effectLst/>
                          <a:latin typeface="Arial"/>
                        </a:rPr>
                        <a:t>1 V</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43251475"/>
                  </a:ext>
                </a:extLst>
              </a:tr>
              <a:tr h="310585">
                <a:tc>
                  <a:txBody>
                    <a:bodyPr/>
                    <a:lstStyle/>
                    <a:p>
                      <a:pPr algn="l" fontAlgn="base">
                        <a:lnSpc>
                          <a:spcPts val="1650"/>
                        </a:lnSpc>
                        <a:buNone/>
                      </a:pPr>
                      <a:r>
                        <a:rPr lang="en-US" sz="1200" b="0" i="0" u="none" strike="noStrike">
                          <a:solidFill>
                            <a:schemeClr val="tx1"/>
                          </a:solidFill>
                          <a:effectLst/>
                          <a:latin typeface="Arial"/>
                        </a:rPr>
                        <a:t>Input CM</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200" b="0" i="0" u="none" strike="noStrike">
                          <a:solidFill>
                            <a:schemeClr val="tx1"/>
                          </a:solidFill>
                          <a:effectLst/>
                          <a:latin typeface="Arial"/>
                        </a:rPr>
                        <a:t>0.8 – 2.5 V</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2158425"/>
                  </a:ext>
                </a:extLst>
              </a:tr>
              <a:tr h="310585">
                <a:tc>
                  <a:txBody>
                    <a:bodyPr/>
                    <a:lstStyle/>
                    <a:p>
                      <a:pPr algn="l" fontAlgn="base">
                        <a:lnSpc>
                          <a:spcPts val="1650"/>
                        </a:lnSpc>
                        <a:buNone/>
                      </a:pPr>
                      <a:r>
                        <a:rPr lang="en-US" sz="1200" b="0" i="0" u="none" strike="noStrike">
                          <a:solidFill>
                            <a:schemeClr val="tx1"/>
                          </a:solidFill>
                          <a:effectLst/>
                          <a:latin typeface="Arial"/>
                        </a:rPr>
                        <a:t>Input Differential</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200" b="0" i="0" u="none" strike="noStrike">
                          <a:solidFill>
                            <a:schemeClr val="tx1"/>
                          </a:solidFill>
                          <a:effectLst/>
                          <a:latin typeface="Arial"/>
                        </a:rPr>
                        <a:t>0.1 – 5 mV</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2043322"/>
                  </a:ext>
                </a:extLst>
              </a:tr>
              <a:tr h="310585">
                <a:tc>
                  <a:txBody>
                    <a:bodyPr/>
                    <a:lstStyle/>
                    <a:p>
                      <a:pPr algn="l" fontAlgn="base">
                        <a:lnSpc>
                          <a:spcPts val="1650"/>
                        </a:lnSpc>
                        <a:buNone/>
                      </a:pPr>
                      <a:r>
                        <a:rPr lang="en-US" sz="1200" b="0" i="0" u="none" strike="noStrike">
                          <a:solidFill>
                            <a:schemeClr val="tx1"/>
                          </a:solidFill>
                          <a:effectLst/>
                          <a:latin typeface="Arial"/>
                        </a:rPr>
                        <a:t>Noise</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200" b="0" i="0" u="none" strike="noStrike" dirty="0">
                          <a:solidFill>
                            <a:schemeClr val="tx1"/>
                          </a:solidFill>
                          <a:effectLst/>
                          <a:latin typeface="Arial"/>
                        </a:rPr>
                        <a:t>&lt; 200 </a:t>
                      </a:r>
                      <a:r>
                        <a:rPr lang="en-US" sz="1200" b="0" i="0" u="none" strike="noStrike" dirty="0" err="1">
                          <a:solidFill>
                            <a:schemeClr val="tx1"/>
                          </a:solidFill>
                          <a:effectLst/>
                          <a:latin typeface="Arial"/>
                        </a:rPr>
                        <a:t>nV</a:t>
                      </a:r>
                      <a:r>
                        <a:rPr lang="en-US" sz="1200" b="0" i="0" u="none" strike="noStrike" dirty="0">
                          <a:solidFill>
                            <a:schemeClr val="tx1"/>
                          </a:solidFill>
                          <a:effectLst/>
                          <a:latin typeface="Arial"/>
                        </a:rPr>
                        <a:t>/√Hz</a:t>
                      </a:r>
                      <a:r>
                        <a:rPr lang="en-US" sz="1200" b="0" i="0" dirty="0">
                          <a:solidFill>
                            <a:schemeClr val="tx1"/>
                          </a:solidFill>
                          <a:effectLst/>
                          <a:latin typeface="Arial"/>
                        </a:rPr>
                        <a:t>​</a:t>
                      </a: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66838896"/>
                  </a:ext>
                </a:extLst>
              </a:tr>
              <a:tr h="310585">
                <a:tc>
                  <a:txBody>
                    <a:bodyPr/>
                    <a:lstStyle/>
                    <a:p>
                      <a:pPr algn="l" fontAlgn="base">
                        <a:lnSpc>
                          <a:spcPts val="1650"/>
                        </a:lnSpc>
                        <a:buNone/>
                      </a:pPr>
                      <a:r>
                        <a:rPr lang="en-US" sz="1200" b="0" i="0" u="none" strike="noStrike">
                          <a:solidFill>
                            <a:schemeClr val="tx1"/>
                          </a:solidFill>
                          <a:effectLst/>
                          <a:latin typeface="Arial"/>
                        </a:rPr>
                        <a:t>CMRR</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200" b="0" i="0" u="none" strike="noStrike">
                          <a:solidFill>
                            <a:schemeClr val="tx1"/>
                          </a:solidFill>
                          <a:effectLst/>
                          <a:latin typeface="Arial"/>
                        </a:rPr>
                        <a:t>&gt; 90 dB</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53792976"/>
                  </a:ext>
                </a:extLst>
              </a:tr>
              <a:tr h="310585">
                <a:tc>
                  <a:txBody>
                    <a:bodyPr/>
                    <a:lstStyle/>
                    <a:p>
                      <a:pPr algn="l" fontAlgn="base">
                        <a:lnSpc>
                          <a:spcPts val="1650"/>
                        </a:lnSpc>
                        <a:buNone/>
                      </a:pPr>
                      <a:r>
                        <a:rPr lang="en-US" sz="1200" b="0" i="0" u="none" strike="noStrike">
                          <a:solidFill>
                            <a:schemeClr val="tx1"/>
                          </a:solidFill>
                          <a:effectLst/>
                          <a:latin typeface="Arial"/>
                        </a:rPr>
                        <a:t>Input impedance</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200" b="0" i="0" u="none" strike="noStrike">
                          <a:solidFill>
                            <a:schemeClr val="tx1"/>
                          </a:solidFill>
                          <a:effectLst/>
                          <a:latin typeface="Arial"/>
                        </a:rPr>
                        <a:t>&gt; 100 MΩ</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50044247"/>
                  </a:ext>
                </a:extLst>
              </a:tr>
              <a:tr h="310585">
                <a:tc>
                  <a:txBody>
                    <a:bodyPr/>
                    <a:lstStyle/>
                    <a:p>
                      <a:pPr algn="l" fontAlgn="base">
                        <a:lnSpc>
                          <a:spcPts val="1650"/>
                        </a:lnSpc>
                        <a:buNone/>
                      </a:pPr>
                      <a:r>
                        <a:rPr lang="en-US" sz="1200" b="0" i="0" u="none" strike="noStrike">
                          <a:solidFill>
                            <a:schemeClr val="tx1"/>
                          </a:solidFill>
                          <a:effectLst/>
                          <a:latin typeface="Arial"/>
                        </a:rPr>
                        <a:t>Input offset tolerance</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200" b="0" i="0" u="none" strike="noStrike">
                          <a:solidFill>
                            <a:schemeClr val="tx1"/>
                          </a:solidFill>
                          <a:effectLst/>
                          <a:latin typeface="Arial"/>
                        </a:rPr>
                        <a:t>±300 mV</a:t>
                      </a:r>
                      <a:r>
                        <a:rPr lang="en-US" sz="1200" b="0" i="0">
                          <a:solidFill>
                            <a:schemeClr val="tx1"/>
                          </a:solidFill>
                          <a:effectLst/>
                          <a:latin typeface="Arial"/>
                        </a:rPr>
                        <a:t>​</a:t>
                      </a:r>
                      <a:endParaRPr lang="en-US" sz="1200" b="0" i="0" dirty="0">
                        <a:solidFill>
                          <a:schemeClr val="tx1"/>
                        </a:solidFill>
                        <a:effectLst/>
                        <a:latin typeface="Arial"/>
                      </a:endParaRPr>
                    </a:p>
                  </a:txBody>
                  <a:tcPr marL="48995" marR="48995" marT="24498" marB="2449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924060"/>
                  </a:ext>
                </a:extLst>
              </a:tr>
            </a:tbl>
          </a:graphicData>
        </a:graphic>
      </p:graphicFrame>
      <p:sp>
        <p:nvSpPr>
          <p:cNvPr id="7" name="Rectangle 1">
            <a:extLst>
              <a:ext uri="{FF2B5EF4-FFF2-40B4-BE49-F238E27FC236}">
                <a16:creationId xmlns:a16="http://schemas.microsoft.com/office/drawing/2014/main" id="{98F7D1F5-5D4D-9349-0A75-D35223977314}"/>
              </a:ext>
            </a:extLst>
          </p:cNvPr>
          <p:cNvSpPr>
            <a:spLocks noGrp="1" noChangeArrowheads="1"/>
          </p:cNvSpPr>
          <p:nvPr>
            <p:ph type="body" idx="1"/>
          </p:nvPr>
        </p:nvSpPr>
        <p:spPr bwMode="auto">
          <a:xfrm>
            <a:off x="311700" y="2149893"/>
            <a:ext cx="1266713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01C6DBBF-9AF0-6699-CE53-FB430D2B0B28}"/>
              </a:ext>
            </a:extLst>
          </p:cNvPr>
          <p:cNvPicPr>
            <a:picLocks noChangeAspect="1"/>
          </p:cNvPicPr>
          <p:nvPr/>
        </p:nvPicPr>
        <p:blipFill>
          <a:blip r:embed="rId2"/>
          <a:stretch>
            <a:fillRect/>
          </a:stretch>
        </p:blipFill>
        <p:spPr>
          <a:xfrm>
            <a:off x="173832" y="1457323"/>
            <a:ext cx="4894065" cy="3112890"/>
          </a:xfrm>
          <a:prstGeom prst="rect">
            <a:avLst/>
          </a:prstGeom>
        </p:spPr>
      </p:pic>
    </p:spTree>
    <p:extLst>
      <p:ext uri="{BB962C8B-B14F-4D97-AF65-F5344CB8AC3E}">
        <p14:creationId xmlns:p14="http://schemas.microsoft.com/office/powerpoint/2010/main" val="1817313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2C2A5-83A0-F6C9-5E4D-7E3EC51FD63E}"/>
              </a:ext>
            </a:extLst>
          </p:cNvPr>
          <p:cNvSpPr>
            <a:spLocks noGrp="1"/>
          </p:cNvSpPr>
          <p:nvPr>
            <p:ph type="title"/>
          </p:nvPr>
        </p:nvSpPr>
        <p:spPr/>
        <p:txBody>
          <a:bodyPr/>
          <a:lstStyle/>
          <a:p>
            <a:r>
              <a:rPr lang="en-US"/>
              <a:t>CCIA</a:t>
            </a:r>
          </a:p>
        </p:txBody>
      </p:sp>
      <p:pic>
        <p:nvPicPr>
          <p:cNvPr id="5" name="Picture 4">
            <a:extLst>
              <a:ext uri="{FF2B5EF4-FFF2-40B4-BE49-F238E27FC236}">
                <a16:creationId xmlns:a16="http://schemas.microsoft.com/office/drawing/2014/main" id="{7C2E195D-C16C-430A-0EF3-33492D2AA2B7}"/>
              </a:ext>
            </a:extLst>
          </p:cNvPr>
          <p:cNvPicPr>
            <a:picLocks noChangeAspect="1"/>
          </p:cNvPicPr>
          <p:nvPr/>
        </p:nvPicPr>
        <p:blipFill>
          <a:blip r:embed="rId2"/>
          <a:stretch>
            <a:fillRect/>
          </a:stretch>
        </p:blipFill>
        <p:spPr>
          <a:xfrm>
            <a:off x="241160" y="1152475"/>
            <a:ext cx="4919433" cy="3689575"/>
          </a:xfrm>
          <a:prstGeom prst="rect">
            <a:avLst/>
          </a:prstGeom>
        </p:spPr>
      </p:pic>
      <p:graphicFrame>
        <p:nvGraphicFramePr>
          <p:cNvPr id="6" name="Table 5">
            <a:extLst>
              <a:ext uri="{FF2B5EF4-FFF2-40B4-BE49-F238E27FC236}">
                <a16:creationId xmlns:a16="http://schemas.microsoft.com/office/drawing/2014/main" id="{66BCD647-76DF-7D92-6A51-3B1683E6B255}"/>
              </a:ext>
            </a:extLst>
          </p:cNvPr>
          <p:cNvGraphicFramePr>
            <a:graphicFrameLocks noGrp="1"/>
          </p:cNvGraphicFramePr>
          <p:nvPr>
            <p:extLst>
              <p:ext uri="{D42A27DB-BD31-4B8C-83A1-F6EECF244321}">
                <p14:modId xmlns:p14="http://schemas.microsoft.com/office/powerpoint/2010/main" val="4044522653"/>
              </p:ext>
            </p:extLst>
          </p:nvPr>
        </p:nvGraphicFramePr>
        <p:xfrm>
          <a:off x="5659275" y="1152475"/>
          <a:ext cx="2869722" cy="2327276"/>
        </p:xfrm>
        <a:graphic>
          <a:graphicData uri="http://schemas.openxmlformats.org/drawingml/2006/table">
            <a:tbl>
              <a:tblPr/>
              <a:tblGrid>
                <a:gridCol w="1513603">
                  <a:extLst>
                    <a:ext uri="{9D8B030D-6E8A-4147-A177-3AD203B41FA5}">
                      <a16:colId xmlns:a16="http://schemas.microsoft.com/office/drawing/2014/main" val="1450850709"/>
                    </a:ext>
                  </a:extLst>
                </a:gridCol>
                <a:gridCol w="1356119">
                  <a:extLst>
                    <a:ext uri="{9D8B030D-6E8A-4147-A177-3AD203B41FA5}">
                      <a16:colId xmlns:a16="http://schemas.microsoft.com/office/drawing/2014/main" val="4217535674"/>
                    </a:ext>
                  </a:extLst>
                </a:gridCol>
              </a:tblGrid>
              <a:tr h="332468">
                <a:tc>
                  <a:txBody>
                    <a:bodyPr/>
                    <a:lstStyle/>
                    <a:p>
                      <a:pPr algn="l" fontAlgn="base">
                        <a:lnSpc>
                          <a:spcPts val="1650"/>
                        </a:lnSpc>
                        <a:buNone/>
                      </a:pPr>
                      <a:r>
                        <a:rPr lang="en-US" sz="1300" b="1" i="0" u="none" strike="noStrike">
                          <a:solidFill>
                            <a:schemeClr val="tx1"/>
                          </a:solidFill>
                          <a:effectLst/>
                          <a:latin typeface="Arial"/>
                        </a:rPr>
                        <a:t>OTA Parameter</a:t>
                      </a:r>
                      <a:r>
                        <a:rPr lang="en-US" sz="1300" b="1" i="0">
                          <a:solidFill>
                            <a:schemeClr val="tx1"/>
                          </a:solidFill>
                          <a:effectLst/>
                          <a:latin typeface="Arial"/>
                        </a:rPr>
                        <a:t>​</a:t>
                      </a:r>
                      <a:endParaRPr lang="en-US" sz="1200" b="1" i="0">
                        <a:solidFill>
                          <a:schemeClr val="tx1"/>
                        </a:solidFill>
                        <a:effectLst/>
                        <a:latin typeface="Arial"/>
                      </a:endParaRPr>
                    </a:p>
                  </a:txBody>
                  <a:tcPr marL="83992" marR="83992" marT="41996" marB="419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300" b="1" i="0" u="none" strike="noStrike">
                          <a:solidFill>
                            <a:schemeClr val="tx1"/>
                          </a:solidFill>
                          <a:effectLst/>
                          <a:latin typeface="Arial"/>
                        </a:rPr>
                        <a:t>Target</a:t>
                      </a:r>
                      <a:r>
                        <a:rPr lang="en-US" sz="1300" b="1" i="0">
                          <a:solidFill>
                            <a:schemeClr val="tx1"/>
                          </a:solidFill>
                          <a:effectLst/>
                          <a:latin typeface="Arial"/>
                        </a:rPr>
                        <a:t>​</a:t>
                      </a:r>
                      <a:endParaRPr lang="en-US" sz="1200" b="1" i="0">
                        <a:solidFill>
                          <a:schemeClr val="tx1"/>
                        </a:solidFill>
                        <a:effectLst/>
                        <a:latin typeface="Arial"/>
                      </a:endParaRPr>
                    </a:p>
                  </a:txBody>
                  <a:tcPr marL="83992" marR="83992" marT="41996" marB="419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4686565"/>
                  </a:ext>
                </a:extLst>
              </a:tr>
              <a:tr h="332468">
                <a:tc>
                  <a:txBody>
                    <a:bodyPr/>
                    <a:lstStyle/>
                    <a:p>
                      <a:pPr algn="l" fontAlgn="base">
                        <a:lnSpc>
                          <a:spcPts val="1650"/>
                        </a:lnSpc>
                        <a:buNone/>
                      </a:pPr>
                      <a:r>
                        <a:rPr lang="en-US" sz="1300" b="0" i="0" u="none" strike="noStrike">
                          <a:solidFill>
                            <a:schemeClr val="tx1"/>
                          </a:solidFill>
                          <a:effectLst/>
                          <a:latin typeface="Arial"/>
                        </a:rPr>
                        <a:t>Supply</a:t>
                      </a:r>
                      <a:r>
                        <a:rPr lang="en-US" sz="1300" b="0" i="0">
                          <a:solidFill>
                            <a:schemeClr val="tx1"/>
                          </a:solidFill>
                          <a:effectLst/>
                          <a:latin typeface="Arial"/>
                        </a:rPr>
                        <a:t>​</a:t>
                      </a:r>
                      <a:endParaRPr lang="en-US" sz="1200" b="0" i="0">
                        <a:solidFill>
                          <a:schemeClr val="tx1"/>
                        </a:solidFill>
                        <a:effectLst/>
                        <a:latin typeface="Arial"/>
                      </a:endParaRPr>
                    </a:p>
                  </a:txBody>
                  <a:tcPr marL="83992" marR="83992" marT="41996" marB="419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300" b="0" i="0" u="none" strike="noStrike">
                          <a:solidFill>
                            <a:schemeClr val="tx1"/>
                          </a:solidFill>
                          <a:effectLst/>
                          <a:latin typeface="Arial"/>
                        </a:rPr>
                        <a:t>3.3 V</a:t>
                      </a:r>
                      <a:r>
                        <a:rPr lang="en-US" sz="1300" b="0" i="0">
                          <a:solidFill>
                            <a:schemeClr val="tx1"/>
                          </a:solidFill>
                          <a:effectLst/>
                          <a:latin typeface="Arial"/>
                        </a:rPr>
                        <a:t>​</a:t>
                      </a:r>
                      <a:endParaRPr lang="en-US" sz="1200" b="0" i="0">
                        <a:solidFill>
                          <a:schemeClr val="tx1"/>
                        </a:solidFill>
                        <a:effectLst/>
                        <a:latin typeface="Arial"/>
                      </a:endParaRPr>
                    </a:p>
                  </a:txBody>
                  <a:tcPr marL="83992" marR="83992" marT="41996" marB="419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22307967"/>
                  </a:ext>
                </a:extLst>
              </a:tr>
              <a:tr h="332468">
                <a:tc>
                  <a:txBody>
                    <a:bodyPr/>
                    <a:lstStyle/>
                    <a:p>
                      <a:pPr algn="l" fontAlgn="base">
                        <a:lnSpc>
                          <a:spcPts val="1650"/>
                        </a:lnSpc>
                        <a:buNone/>
                      </a:pPr>
                      <a:r>
                        <a:rPr lang="en-US" sz="1300" b="0" i="0" u="none" strike="noStrike">
                          <a:solidFill>
                            <a:schemeClr val="tx1"/>
                          </a:solidFill>
                          <a:effectLst/>
                          <a:latin typeface="Arial"/>
                        </a:rPr>
                        <a:t>OTA DC Gain</a:t>
                      </a:r>
                      <a:r>
                        <a:rPr lang="en-US" sz="1300" b="0" i="0">
                          <a:solidFill>
                            <a:schemeClr val="tx1"/>
                          </a:solidFill>
                          <a:effectLst/>
                          <a:latin typeface="Arial"/>
                        </a:rPr>
                        <a:t>​</a:t>
                      </a:r>
                      <a:endParaRPr lang="en-US" sz="1200" b="0" i="0">
                        <a:solidFill>
                          <a:schemeClr val="tx1"/>
                        </a:solidFill>
                        <a:effectLst/>
                        <a:latin typeface="Arial"/>
                      </a:endParaRPr>
                    </a:p>
                  </a:txBody>
                  <a:tcPr marL="83992" marR="83992" marT="41996" marB="419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300" b="0" i="0" u="none" strike="noStrike">
                          <a:solidFill>
                            <a:schemeClr val="tx1"/>
                          </a:solidFill>
                          <a:effectLst/>
                          <a:latin typeface="Arial"/>
                        </a:rPr>
                        <a:t>60 - 80 dB</a:t>
                      </a:r>
                      <a:r>
                        <a:rPr lang="en-US" sz="1300" b="0" i="0">
                          <a:solidFill>
                            <a:schemeClr val="tx1"/>
                          </a:solidFill>
                          <a:effectLst/>
                          <a:latin typeface="Arial"/>
                        </a:rPr>
                        <a:t>​</a:t>
                      </a:r>
                      <a:endParaRPr lang="en-US" sz="1200" b="0" i="0">
                        <a:solidFill>
                          <a:schemeClr val="tx1"/>
                        </a:solidFill>
                        <a:effectLst/>
                        <a:latin typeface="Arial"/>
                      </a:endParaRPr>
                    </a:p>
                  </a:txBody>
                  <a:tcPr marL="83992" marR="83992" marT="41996" marB="419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4660482"/>
                  </a:ext>
                </a:extLst>
              </a:tr>
              <a:tr h="332468">
                <a:tc>
                  <a:txBody>
                    <a:bodyPr/>
                    <a:lstStyle/>
                    <a:p>
                      <a:pPr algn="l" fontAlgn="base">
                        <a:lnSpc>
                          <a:spcPts val="1650"/>
                        </a:lnSpc>
                        <a:buNone/>
                      </a:pPr>
                      <a:r>
                        <a:rPr lang="en-US" sz="1300" b="0" i="0" u="none" strike="noStrike">
                          <a:solidFill>
                            <a:schemeClr val="tx1"/>
                          </a:solidFill>
                          <a:effectLst/>
                          <a:latin typeface="Arial"/>
                        </a:rPr>
                        <a:t>GBW</a:t>
                      </a:r>
                      <a:r>
                        <a:rPr lang="en-US" sz="1300" b="0" i="0">
                          <a:solidFill>
                            <a:schemeClr val="tx1"/>
                          </a:solidFill>
                          <a:effectLst/>
                          <a:latin typeface="Arial"/>
                        </a:rPr>
                        <a:t>​</a:t>
                      </a:r>
                      <a:endParaRPr lang="en-US" sz="1200" b="0" i="0">
                        <a:solidFill>
                          <a:schemeClr val="tx1"/>
                        </a:solidFill>
                        <a:effectLst/>
                        <a:latin typeface="Arial"/>
                      </a:endParaRPr>
                    </a:p>
                  </a:txBody>
                  <a:tcPr marL="83992" marR="83992" marT="41996" marB="419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300" b="0" i="0" u="none" strike="noStrike">
                          <a:solidFill>
                            <a:schemeClr val="tx1"/>
                          </a:solidFill>
                          <a:effectLst/>
                          <a:latin typeface="Arial"/>
                        </a:rPr>
                        <a:t>1 MHz</a:t>
                      </a:r>
                      <a:r>
                        <a:rPr lang="en-US" sz="1300" b="0" i="0">
                          <a:solidFill>
                            <a:schemeClr val="tx1"/>
                          </a:solidFill>
                          <a:effectLst/>
                          <a:latin typeface="Arial"/>
                        </a:rPr>
                        <a:t>​</a:t>
                      </a:r>
                      <a:endParaRPr lang="en-US" sz="1200" b="0" i="0">
                        <a:solidFill>
                          <a:schemeClr val="tx1"/>
                        </a:solidFill>
                        <a:effectLst/>
                        <a:latin typeface="Arial"/>
                      </a:endParaRPr>
                    </a:p>
                  </a:txBody>
                  <a:tcPr marL="83992" marR="83992" marT="41996" marB="419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8553706"/>
                  </a:ext>
                </a:extLst>
              </a:tr>
              <a:tr h="332468">
                <a:tc>
                  <a:txBody>
                    <a:bodyPr/>
                    <a:lstStyle/>
                    <a:p>
                      <a:pPr algn="l" fontAlgn="base">
                        <a:lnSpc>
                          <a:spcPts val="1650"/>
                        </a:lnSpc>
                        <a:buNone/>
                      </a:pPr>
                      <a:r>
                        <a:rPr lang="en-US" sz="1300" b="0" i="0" u="none" strike="noStrike">
                          <a:solidFill>
                            <a:schemeClr val="tx1"/>
                          </a:solidFill>
                          <a:effectLst/>
                          <a:latin typeface="Arial"/>
                        </a:rPr>
                        <a:t>PM</a:t>
                      </a:r>
                      <a:r>
                        <a:rPr lang="en-US" sz="1300" b="0" i="0">
                          <a:solidFill>
                            <a:schemeClr val="tx1"/>
                          </a:solidFill>
                          <a:effectLst/>
                          <a:latin typeface="Arial"/>
                        </a:rPr>
                        <a:t>​</a:t>
                      </a:r>
                      <a:endParaRPr lang="en-US" sz="1200" b="0" i="0">
                        <a:solidFill>
                          <a:schemeClr val="tx1"/>
                        </a:solidFill>
                        <a:effectLst/>
                        <a:latin typeface="Arial"/>
                      </a:endParaRPr>
                    </a:p>
                  </a:txBody>
                  <a:tcPr marL="83992" marR="83992" marT="41996" marB="419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300" b="0" i="0" u="none" strike="noStrike">
                          <a:solidFill>
                            <a:schemeClr val="tx1"/>
                          </a:solidFill>
                          <a:effectLst/>
                          <a:latin typeface="Arial"/>
                        </a:rPr>
                        <a:t>&gt; 60°</a:t>
                      </a:r>
                      <a:r>
                        <a:rPr lang="en-US" sz="1300" b="0" i="0">
                          <a:solidFill>
                            <a:schemeClr val="tx1"/>
                          </a:solidFill>
                          <a:effectLst/>
                          <a:latin typeface="Arial"/>
                        </a:rPr>
                        <a:t>​</a:t>
                      </a:r>
                      <a:endParaRPr lang="en-US" sz="1200" b="0" i="0">
                        <a:solidFill>
                          <a:schemeClr val="tx1"/>
                        </a:solidFill>
                        <a:effectLst/>
                        <a:latin typeface="Arial"/>
                      </a:endParaRPr>
                    </a:p>
                  </a:txBody>
                  <a:tcPr marL="83992" marR="83992" marT="41996" marB="419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93285369"/>
                  </a:ext>
                </a:extLst>
              </a:tr>
              <a:tr h="332468">
                <a:tc>
                  <a:txBody>
                    <a:bodyPr/>
                    <a:lstStyle/>
                    <a:p>
                      <a:pPr algn="l" fontAlgn="base">
                        <a:lnSpc>
                          <a:spcPts val="1650"/>
                        </a:lnSpc>
                        <a:buNone/>
                      </a:pPr>
                      <a:r>
                        <a:rPr lang="en-US" sz="1300" b="0" i="0" u="none" strike="noStrike">
                          <a:solidFill>
                            <a:schemeClr val="tx1"/>
                          </a:solidFill>
                          <a:effectLst/>
                          <a:latin typeface="Arial"/>
                        </a:rPr>
                        <a:t>Input/Output CM</a:t>
                      </a:r>
                      <a:r>
                        <a:rPr lang="en-US" sz="1300" b="0" i="0">
                          <a:solidFill>
                            <a:schemeClr val="tx1"/>
                          </a:solidFill>
                          <a:effectLst/>
                          <a:latin typeface="Arial"/>
                        </a:rPr>
                        <a:t>​</a:t>
                      </a:r>
                      <a:endParaRPr lang="en-US" sz="1200" b="0" i="0">
                        <a:solidFill>
                          <a:schemeClr val="tx1"/>
                        </a:solidFill>
                        <a:effectLst/>
                        <a:latin typeface="Arial"/>
                      </a:endParaRPr>
                    </a:p>
                  </a:txBody>
                  <a:tcPr marL="83992" marR="83992" marT="41996" marB="419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300" b="0" i="0" u="none" strike="noStrike">
                          <a:solidFill>
                            <a:schemeClr val="tx1"/>
                          </a:solidFill>
                          <a:effectLst/>
                          <a:latin typeface="Arial"/>
                        </a:rPr>
                        <a:t>1.65 V</a:t>
                      </a:r>
                      <a:r>
                        <a:rPr lang="en-US" sz="1300" b="0" i="0">
                          <a:solidFill>
                            <a:schemeClr val="tx1"/>
                          </a:solidFill>
                          <a:effectLst/>
                          <a:latin typeface="Arial"/>
                        </a:rPr>
                        <a:t>​</a:t>
                      </a:r>
                      <a:endParaRPr lang="en-US" sz="1200" b="0" i="0">
                        <a:solidFill>
                          <a:schemeClr val="tx1"/>
                        </a:solidFill>
                        <a:effectLst/>
                        <a:latin typeface="Arial"/>
                      </a:endParaRPr>
                    </a:p>
                  </a:txBody>
                  <a:tcPr marL="83992" marR="83992" marT="41996" marB="419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26198517"/>
                  </a:ext>
                </a:extLst>
              </a:tr>
              <a:tr h="332468">
                <a:tc>
                  <a:txBody>
                    <a:bodyPr/>
                    <a:lstStyle/>
                    <a:p>
                      <a:pPr algn="l" fontAlgn="base">
                        <a:lnSpc>
                          <a:spcPts val="1650"/>
                        </a:lnSpc>
                        <a:buNone/>
                      </a:pPr>
                      <a:r>
                        <a:rPr lang="en-US" sz="1300" b="0" i="0" u="none" strike="noStrike">
                          <a:solidFill>
                            <a:schemeClr val="tx1"/>
                          </a:solidFill>
                          <a:effectLst/>
                          <a:latin typeface="Arial"/>
                        </a:rPr>
                        <a:t>Output Swing</a:t>
                      </a:r>
                      <a:r>
                        <a:rPr lang="en-US" sz="1300" b="0" i="0">
                          <a:solidFill>
                            <a:schemeClr val="tx1"/>
                          </a:solidFill>
                          <a:effectLst/>
                          <a:latin typeface="Arial"/>
                        </a:rPr>
                        <a:t>​</a:t>
                      </a:r>
                      <a:endParaRPr lang="en-US" sz="1200" b="0" i="0">
                        <a:solidFill>
                          <a:schemeClr val="tx1"/>
                        </a:solidFill>
                        <a:effectLst/>
                        <a:latin typeface="Arial"/>
                      </a:endParaRPr>
                    </a:p>
                  </a:txBody>
                  <a:tcPr marL="83992" marR="83992" marT="41996" marB="419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300" b="0" i="0" u="none" strike="noStrike">
                          <a:solidFill>
                            <a:schemeClr val="tx1"/>
                          </a:solidFill>
                          <a:effectLst/>
                          <a:latin typeface="Arial"/>
                        </a:rPr>
                        <a:t>1 V</a:t>
                      </a:r>
                      <a:r>
                        <a:rPr lang="en-US" sz="1300" b="0" i="0">
                          <a:solidFill>
                            <a:schemeClr val="tx1"/>
                          </a:solidFill>
                          <a:effectLst/>
                          <a:latin typeface="Arial"/>
                        </a:rPr>
                        <a:t>​</a:t>
                      </a:r>
                      <a:endParaRPr lang="en-US" sz="1200" b="0" i="0">
                        <a:solidFill>
                          <a:schemeClr val="tx1"/>
                        </a:solidFill>
                        <a:effectLst/>
                        <a:latin typeface="Arial"/>
                      </a:endParaRPr>
                    </a:p>
                  </a:txBody>
                  <a:tcPr marL="83992" marR="83992" marT="41996" marB="419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8041422"/>
                  </a:ext>
                </a:extLst>
              </a:tr>
            </a:tbl>
          </a:graphicData>
        </a:graphic>
      </p:graphicFrame>
      <p:sp>
        <p:nvSpPr>
          <p:cNvPr id="7" name="Rectangle 1">
            <a:extLst>
              <a:ext uri="{FF2B5EF4-FFF2-40B4-BE49-F238E27FC236}">
                <a16:creationId xmlns:a16="http://schemas.microsoft.com/office/drawing/2014/main" id="{F568092B-1AD6-A2ED-A62B-E39A78E4E39A}"/>
              </a:ext>
            </a:extLst>
          </p:cNvPr>
          <p:cNvSpPr>
            <a:spLocks noChangeArrowheads="1"/>
          </p:cNvSpPr>
          <p:nvPr/>
        </p:nvSpPr>
        <p:spPr bwMode="auto">
          <a:xfrm>
            <a:off x="5659036" y="1152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8" name="Table 7">
            <a:extLst>
              <a:ext uri="{FF2B5EF4-FFF2-40B4-BE49-F238E27FC236}">
                <a16:creationId xmlns:a16="http://schemas.microsoft.com/office/drawing/2014/main" id="{2513FEF4-E953-3B41-DFF0-54EBDB1A913D}"/>
              </a:ext>
            </a:extLst>
          </p:cNvPr>
          <p:cNvGraphicFramePr>
            <a:graphicFrameLocks noGrp="1"/>
          </p:cNvGraphicFramePr>
          <p:nvPr>
            <p:extLst>
              <p:ext uri="{D42A27DB-BD31-4B8C-83A1-F6EECF244321}">
                <p14:modId xmlns:p14="http://schemas.microsoft.com/office/powerpoint/2010/main" val="2368387289"/>
              </p:ext>
            </p:extLst>
          </p:nvPr>
        </p:nvGraphicFramePr>
        <p:xfrm>
          <a:off x="5572230" y="3614501"/>
          <a:ext cx="3124200" cy="1379665"/>
        </p:xfrm>
        <a:graphic>
          <a:graphicData uri="http://schemas.openxmlformats.org/drawingml/2006/table">
            <a:tbl>
              <a:tblPr/>
              <a:tblGrid>
                <a:gridCol w="1647825">
                  <a:extLst>
                    <a:ext uri="{9D8B030D-6E8A-4147-A177-3AD203B41FA5}">
                      <a16:colId xmlns:a16="http://schemas.microsoft.com/office/drawing/2014/main" val="1618171411"/>
                    </a:ext>
                  </a:extLst>
                </a:gridCol>
                <a:gridCol w="1476375">
                  <a:extLst>
                    <a:ext uri="{9D8B030D-6E8A-4147-A177-3AD203B41FA5}">
                      <a16:colId xmlns:a16="http://schemas.microsoft.com/office/drawing/2014/main" val="3701844411"/>
                    </a:ext>
                  </a:extLst>
                </a:gridCol>
              </a:tblGrid>
              <a:tr h="0">
                <a:tc>
                  <a:txBody>
                    <a:bodyPr/>
                    <a:lstStyle/>
                    <a:p>
                      <a:pPr algn="l" fontAlgn="base">
                        <a:lnSpc>
                          <a:spcPts val="1650"/>
                        </a:lnSpc>
                        <a:buNone/>
                      </a:pPr>
                      <a:r>
                        <a:rPr lang="en-US" sz="1400" b="1" i="0" u="none" strike="noStrike">
                          <a:solidFill>
                            <a:schemeClr val="tx1"/>
                          </a:solidFill>
                          <a:effectLst/>
                          <a:latin typeface="Arial"/>
                        </a:rPr>
                        <a:t>CMFB Parameter</a:t>
                      </a:r>
                      <a:r>
                        <a:rPr lang="en-US" sz="1400" b="1" i="0">
                          <a:solidFill>
                            <a:schemeClr val="tx1"/>
                          </a:solidFill>
                          <a:effectLst/>
                          <a:latin typeface="Arial"/>
                        </a:rPr>
                        <a:t>​</a:t>
                      </a:r>
                      <a:endParaRPr lang="en-US" b="1" i="0">
                        <a:solidFill>
                          <a:schemeClr val="tx1"/>
                        </a:solidFill>
                        <a:effectLst/>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400" b="1" i="0" u="none" strike="noStrike">
                          <a:solidFill>
                            <a:schemeClr val="tx1"/>
                          </a:solidFill>
                          <a:effectLst/>
                          <a:latin typeface="Arial"/>
                        </a:rPr>
                        <a:t>Target</a:t>
                      </a:r>
                      <a:r>
                        <a:rPr lang="en-US" sz="1400" b="1" i="0">
                          <a:solidFill>
                            <a:schemeClr val="tx1"/>
                          </a:solidFill>
                          <a:effectLst/>
                          <a:latin typeface="Arial"/>
                        </a:rPr>
                        <a:t>​</a:t>
                      </a:r>
                      <a:endParaRPr lang="en-US" b="1" i="0">
                        <a:solidFill>
                          <a:schemeClr val="tx1"/>
                        </a:solidFill>
                        <a:effectLst/>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0655935"/>
                  </a:ext>
                </a:extLst>
              </a:tr>
              <a:tr h="361950">
                <a:tc>
                  <a:txBody>
                    <a:bodyPr/>
                    <a:lstStyle/>
                    <a:p>
                      <a:pPr algn="l" fontAlgn="base">
                        <a:lnSpc>
                          <a:spcPts val="1650"/>
                        </a:lnSpc>
                        <a:buNone/>
                      </a:pPr>
                      <a:r>
                        <a:rPr lang="en-US" sz="1400" b="0" i="0" u="none" strike="noStrike">
                          <a:solidFill>
                            <a:schemeClr val="tx1"/>
                          </a:solidFill>
                          <a:effectLst/>
                          <a:latin typeface="Arial"/>
                        </a:rPr>
                        <a:t>CMFB DC Gain</a:t>
                      </a:r>
                      <a:r>
                        <a:rPr lang="en-US" sz="1400" b="0" i="0">
                          <a:solidFill>
                            <a:schemeClr val="tx1"/>
                          </a:solidFill>
                          <a:effectLst/>
                          <a:latin typeface="Arial"/>
                        </a:rPr>
                        <a:t>​</a:t>
                      </a:r>
                      <a:endParaRPr lang="en-US" b="0" i="0">
                        <a:solidFill>
                          <a:schemeClr val="tx1"/>
                        </a:solidFill>
                        <a:effectLst/>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400" b="0" i="0" u="none" strike="noStrike">
                          <a:solidFill>
                            <a:schemeClr val="tx1"/>
                          </a:solidFill>
                          <a:effectLst/>
                          <a:latin typeface="Arial"/>
                        </a:rPr>
                        <a:t>40 dB</a:t>
                      </a:r>
                      <a:r>
                        <a:rPr lang="en-US" sz="1400" b="0" i="0">
                          <a:solidFill>
                            <a:schemeClr val="tx1"/>
                          </a:solidFill>
                          <a:effectLst/>
                          <a:latin typeface="Arial"/>
                        </a:rPr>
                        <a:t>​</a:t>
                      </a:r>
                      <a:endParaRPr lang="en-US" b="0" i="0">
                        <a:solidFill>
                          <a:schemeClr val="tx1"/>
                        </a:solidFill>
                        <a:effectLst/>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22700974"/>
                  </a:ext>
                </a:extLst>
              </a:tr>
              <a:tr h="361950">
                <a:tc>
                  <a:txBody>
                    <a:bodyPr/>
                    <a:lstStyle/>
                    <a:p>
                      <a:pPr algn="l" fontAlgn="base">
                        <a:lnSpc>
                          <a:spcPts val="1650"/>
                        </a:lnSpc>
                        <a:buNone/>
                      </a:pPr>
                      <a:r>
                        <a:rPr lang="en-US" sz="1400" b="0" i="0" u="none" strike="noStrike">
                          <a:solidFill>
                            <a:schemeClr val="tx1"/>
                          </a:solidFill>
                          <a:effectLst/>
                          <a:latin typeface="Arial"/>
                        </a:rPr>
                        <a:t>GBW</a:t>
                      </a:r>
                      <a:r>
                        <a:rPr lang="en-US" sz="1400" b="0" i="0">
                          <a:solidFill>
                            <a:schemeClr val="tx1"/>
                          </a:solidFill>
                          <a:effectLst/>
                          <a:latin typeface="Arial"/>
                        </a:rPr>
                        <a:t>​</a:t>
                      </a:r>
                      <a:endParaRPr lang="en-US" b="0" i="0">
                        <a:solidFill>
                          <a:schemeClr val="tx1"/>
                        </a:solidFill>
                        <a:effectLst/>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400" b="0" i="0" u="none" strike="noStrike" dirty="0">
                          <a:solidFill>
                            <a:schemeClr val="tx1"/>
                          </a:solidFill>
                          <a:effectLst/>
                          <a:latin typeface="Arial"/>
                        </a:rPr>
                        <a:t>100 </a:t>
                      </a:r>
                      <a:r>
                        <a:rPr lang="en-US" sz="1400" b="0" i="0" u="none" strike="noStrike" dirty="0" err="1">
                          <a:solidFill>
                            <a:schemeClr val="tx1"/>
                          </a:solidFill>
                          <a:effectLst/>
                          <a:latin typeface="Arial"/>
                        </a:rPr>
                        <a:t>KHz</a:t>
                      </a:r>
                      <a:r>
                        <a:rPr lang="en-US" sz="1400" b="0" i="0" dirty="0">
                          <a:solidFill>
                            <a:schemeClr val="tx1"/>
                          </a:solidFill>
                          <a:effectLst/>
                          <a:latin typeface="Arial"/>
                        </a:rPr>
                        <a:t>​</a:t>
                      </a:r>
                      <a:endParaRPr lang="en-US" b="0" i="0" dirty="0">
                        <a:solidFill>
                          <a:schemeClr val="tx1"/>
                        </a:solidFill>
                        <a:effectLst/>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4018937"/>
                  </a:ext>
                </a:extLst>
              </a:tr>
              <a:tr h="361950">
                <a:tc>
                  <a:txBody>
                    <a:bodyPr/>
                    <a:lstStyle/>
                    <a:p>
                      <a:pPr algn="l" fontAlgn="base">
                        <a:lnSpc>
                          <a:spcPts val="1650"/>
                        </a:lnSpc>
                        <a:buNone/>
                      </a:pPr>
                      <a:r>
                        <a:rPr lang="en-US" sz="1400" b="0" i="0" u="none" strike="noStrike">
                          <a:solidFill>
                            <a:schemeClr val="tx1"/>
                          </a:solidFill>
                          <a:effectLst/>
                          <a:latin typeface="Arial"/>
                        </a:rPr>
                        <a:t>PM</a:t>
                      </a:r>
                      <a:r>
                        <a:rPr lang="en-US" sz="1400" b="0" i="0">
                          <a:solidFill>
                            <a:schemeClr val="tx1"/>
                          </a:solidFill>
                          <a:effectLst/>
                          <a:latin typeface="Arial"/>
                        </a:rPr>
                        <a:t>​</a:t>
                      </a:r>
                      <a:endParaRPr lang="en-US" b="0" i="0">
                        <a:solidFill>
                          <a:schemeClr val="tx1"/>
                        </a:solidFill>
                        <a:effectLst/>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ase">
                        <a:lnSpc>
                          <a:spcPts val="1650"/>
                        </a:lnSpc>
                        <a:buNone/>
                      </a:pPr>
                      <a:r>
                        <a:rPr lang="en-US" sz="1400" b="0" i="0" u="none" strike="noStrike">
                          <a:solidFill>
                            <a:schemeClr val="tx1"/>
                          </a:solidFill>
                          <a:effectLst/>
                          <a:latin typeface="Arial"/>
                        </a:rPr>
                        <a:t>&gt; 60°</a:t>
                      </a:r>
                      <a:r>
                        <a:rPr lang="en-US" sz="1400" b="0" i="0">
                          <a:solidFill>
                            <a:schemeClr val="tx1"/>
                          </a:solidFill>
                          <a:effectLst/>
                          <a:latin typeface="Arial"/>
                        </a:rPr>
                        <a:t>​</a:t>
                      </a:r>
                      <a:endParaRPr lang="en-US" b="0" i="0">
                        <a:solidFill>
                          <a:schemeClr val="tx1"/>
                        </a:solidFill>
                        <a:effectLst/>
                        <a:latin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116310"/>
                  </a:ext>
                </a:extLst>
              </a:tr>
            </a:tbl>
          </a:graphicData>
        </a:graphic>
      </p:graphicFrame>
      <p:sp>
        <p:nvSpPr>
          <p:cNvPr id="9" name="Rectangle 2">
            <a:extLst>
              <a:ext uri="{FF2B5EF4-FFF2-40B4-BE49-F238E27FC236}">
                <a16:creationId xmlns:a16="http://schemas.microsoft.com/office/drawing/2014/main" id="{B1AC6425-13BD-E768-537D-2112D8F11297}"/>
              </a:ext>
            </a:extLst>
          </p:cNvPr>
          <p:cNvSpPr>
            <a:spLocks noChangeArrowheads="1"/>
          </p:cNvSpPr>
          <p:nvPr/>
        </p:nvSpPr>
        <p:spPr bwMode="auto">
          <a:xfrm>
            <a:off x="5572230" y="361456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6491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67432-5D40-DA5A-9E17-8856242BB34E}"/>
              </a:ext>
            </a:extLst>
          </p:cNvPr>
          <p:cNvSpPr>
            <a:spLocks noGrp="1"/>
          </p:cNvSpPr>
          <p:nvPr>
            <p:ph type="title"/>
          </p:nvPr>
        </p:nvSpPr>
        <p:spPr/>
        <p:txBody>
          <a:bodyPr/>
          <a:lstStyle/>
          <a:p>
            <a:r>
              <a:rPr lang="en-US" err="1"/>
              <a:t>BandGap</a:t>
            </a:r>
            <a:r>
              <a:rPr lang="en-US"/>
              <a:t> Reference</a:t>
            </a:r>
          </a:p>
        </p:txBody>
      </p:sp>
      <p:sp>
        <p:nvSpPr>
          <p:cNvPr id="3" name="Text Placeholder 2">
            <a:extLst>
              <a:ext uri="{FF2B5EF4-FFF2-40B4-BE49-F238E27FC236}">
                <a16:creationId xmlns:a16="http://schemas.microsoft.com/office/drawing/2014/main" id="{AFD89CB8-09E2-D27A-C229-8FD51B349E45}"/>
              </a:ext>
            </a:extLst>
          </p:cNvPr>
          <p:cNvSpPr>
            <a:spLocks noGrp="1"/>
          </p:cNvSpPr>
          <p:nvPr>
            <p:ph type="body" idx="1"/>
          </p:nvPr>
        </p:nvSpPr>
        <p:spPr>
          <a:xfrm>
            <a:off x="4789870" y="1288953"/>
            <a:ext cx="4153319" cy="2367228"/>
          </a:xfrm>
        </p:spPr>
        <p:txBody>
          <a:bodyPr spcFirstLastPara="1" vert="horz" wrap="square" lIns="91425" tIns="91425" rIns="91425" bIns="91425" rtlCol="0" anchor="t" anchorCtr="0">
            <a:noAutofit/>
          </a:bodyPr>
          <a:lstStyle/>
          <a:p>
            <a:r>
              <a:rPr lang="en-US" sz="1400">
                <a:latin typeface="Arial"/>
                <a:cs typeface="Arial"/>
              </a:rPr>
              <a:t>A bandgap reference (BGR) circuit is used to generate reference voltages insensitive to temperature</a:t>
            </a:r>
            <a:endParaRPr lang="en-US" sz="1400" dirty="0">
              <a:latin typeface="Arial"/>
              <a:cs typeface="Arial"/>
            </a:endParaRPr>
          </a:p>
          <a:p>
            <a:r>
              <a:rPr lang="en-US" sz="1400">
                <a:latin typeface="Arial"/>
                <a:cs typeface="Arial"/>
              </a:rPr>
              <a:t>The BGR circuit is self-biased so that no extra pins other than VDD and GND are needed</a:t>
            </a:r>
            <a:endParaRPr lang="en-US" sz="1400" dirty="0">
              <a:latin typeface="Arial"/>
              <a:cs typeface="Arial"/>
            </a:endParaRPr>
          </a:p>
          <a:p>
            <a:r>
              <a:rPr lang="en-US" sz="1400" dirty="0">
                <a:latin typeface="Arial"/>
                <a:cs typeface="Arial"/>
              </a:rPr>
              <a:t>The BGR will provide specific biasing voltages to the </a:t>
            </a:r>
            <a:r>
              <a:rPr lang="en-US" sz="1400" dirty="0" err="1">
                <a:latin typeface="Arial"/>
                <a:cs typeface="Arial"/>
              </a:rPr>
              <a:t>opamps</a:t>
            </a:r>
            <a:r>
              <a:rPr lang="en-US" sz="1400" dirty="0">
                <a:latin typeface="Arial"/>
                <a:cs typeface="Arial"/>
              </a:rPr>
              <a:t> used in the INA design and the filters design</a:t>
            </a:r>
          </a:p>
          <a:p>
            <a:endParaRPr lang="en-US">
              <a:solidFill>
                <a:srgbClr val="000000"/>
              </a:solidFill>
            </a:endParaRPr>
          </a:p>
        </p:txBody>
      </p:sp>
      <p:pic>
        <p:nvPicPr>
          <p:cNvPr id="4" name="Picture 3">
            <a:extLst>
              <a:ext uri="{FF2B5EF4-FFF2-40B4-BE49-F238E27FC236}">
                <a16:creationId xmlns:a16="http://schemas.microsoft.com/office/drawing/2014/main" id="{EA39F350-7E62-8972-748B-BF3545D30FC0}"/>
              </a:ext>
            </a:extLst>
          </p:cNvPr>
          <p:cNvPicPr>
            <a:picLocks noChangeAspect="1"/>
          </p:cNvPicPr>
          <p:nvPr/>
        </p:nvPicPr>
        <p:blipFill>
          <a:blip r:embed="rId2"/>
          <a:stretch>
            <a:fillRect/>
          </a:stretch>
        </p:blipFill>
        <p:spPr>
          <a:xfrm>
            <a:off x="314255" y="1103052"/>
            <a:ext cx="4480873" cy="2553553"/>
          </a:xfrm>
          <a:prstGeom prst="rect">
            <a:avLst/>
          </a:prstGeom>
        </p:spPr>
      </p:pic>
      <p:sp>
        <p:nvSpPr>
          <p:cNvPr id="5" name="TextBox 4">
            <a:extLst>
              <a:ext uri="{FF2B5EF4-FFF2-40B4-BE49-F238E27FC236}">
                <a16:creationId xmlns:a16="http://schemas.microsoft.com/office/drawing/2014/main" id="{292F7C5F-34B5-43CC-3C63-BD6884C8AEC3}"/>
              </a:ext>
            </a:extLst>
          </p:cNvPr>
          <p:cNvSpPr txBox="1"/>
          <p:nvPr/>
        </p:nvSpPr>
        <p:spPr>
          <a:xfrm>
            <a:off x="460612" y="3748869"/>
            <a:ext cx="7949820"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lvl="0" indent="-228600" algn="l" rtl="0">
              <a:buFont typeface=""/>
              <a:buChar char="•"/>
            </a:pPr>
            <a:r>
              <a:rPr lang="en-US" sz="1400" b="0" i="0" u="none" strike="noStrike" baseline="0" dirty="0">
                <a:solidFill>
                  <a:srgbClr val="262626"/>
                </a:solidFill>
                <a:latin typeface="Arial"/>
                <a:ea typeface="Arial"/>
                <a:cs typeface="Arial"/>
              </a:rPr>
              <a:t>The BGR circuit composes an </a:t>
            </a:r>
            <a:r>
              <a:rPr lang="en-US" sz="1400" b="0" i="0" u="none" strike="noStrike" baseline="0" dirty="0" err="1">
                <a:solidFill>
                  <a:srgbClr val="262626"/>
                </a:solidFill>
                <a:latin typeface="Arial"/>
                <a:ea typeface="Arial"/>
                <a:cs typeface="Arial"/>
              </a:rPr>
              <a:t>opamp</a:t>
            </a:r>
            <a:r>
              <a:rPr lang="en-US" sz="1400" b="0" i="0" u="none" strike="noStrike" baseline="0" dirty="0">
                <a:solidFill>
                  <a:srgbClr val="262626"/>
                </a:solidFill>
                <a:latin typeface="Arial"/>
                <a:ea typeface="Arial"/>
                <a:cs typeface="Arial"/>
              </a:rPr>
              <a:t> based on </a:t>
            </a:r>
            <a:r>
              <a:rPr lang="en-US" sz="1400" b="0" i="0" u="none" strike="noStrike" baseline="0" dirty="0" err="1">
                <a:solidFill>
                  <a:srgbClr val="262626"/>
                </a:solidFill>
                <a:latin typeface="Arial"/>
                <a:ea typeface="Arial"/>
                <a:cs typeface="Arial"/>
              </a:rPr>
              <a:t>CMOS,diodes</a:t>
            </a:r>
            <a:r>
              <a:rPr lang="en-US" sz="1400" b="0" i="0" u="none" strike="noStrike" baseline="0" dirty="0">
                <a:solidFill>
                  <a:srgbClr val="262626"/>
                </a:solidFill>
                <a:latin typeface="Arial"/>
                <a:ea typeface="Arial"/>
                <a:cs typeface="Arial"/>
              </a:rPr>
              <a:t> based on diode-connected BJTs and resistors</a:t>
            </a:r>
            <a:r>
              <a:rPr lang="en-US" sz="1400" b="0" i="0" dirty="0">
                <a:solidFill>
                  <a:srgbClr val="000000"/>
                </a:solidFill>
                <a:latin typeface="Arial"/>
                <a:ea typeface="Arial"/>
                <a:cs typeface="Arial"/>
              </a:rPr>
              <a:t>​</a:t>
            </a:r>
          </a:p>
          <a:p>
            <a:pPr marL="228600" lvl="1" indent="-228600" algn="l" rtl="0">
              <a:buFont typeface=""/>
              <a:buChar char="•"/>
            </a:pPr>
            <a:r>
              <a:rPr lang="en-US" sz="1400" b="0" i="0" u="none" strike="noStrike" baseline="0">
                <a:solidFill>
                  <a:srgbClr val="262626"/>
                </a:solidFill>
                <a:latin typeface="Arial"/>
                <a:ea typeface="Arial"/>
                <a:cs typeface="Arial"/>
              </a:rPr>
              <a:t>CMOS devices to be used: nfet_03v3, pfet_03v3</a:t>
            </a:r>
            <a:r>
              <a:rPr lang="en-US" sz="1400" b="0" i="0">
                <a:solidFill>
                  <a:srgbClr val="000000"/>
                </a:solidFill>
                <a:latin typeface="Arial"/>
                <a:ea typeface="Arial"/>
                <a:cs typeface="Arial"/>
              </a:rPr>
              <a:t>​</a:t>
            </a:r>
            <a:endParaRPr lang="en-US" sz="1400" b="0" i="0" dirty="0">
              <a:solidFill>
                <a:srgbClr val="000000"/>
              </a:solidFill>
              <a:latin typeface="Arial"/>
              <a:ea typeface="Arial"/>
              <a:cs typeface="Arial"/>
            </a:endParaRPr>
          </a:p>
          <a:p>
            <a:pPr marL="228600" lvl="1" indent="-228600" algn="l" rtl="0">
              <a:buFont typeface=""/>
              <a:buChar char="•"/>
            </a:pPr>
            <a:r>
              <a:rPr lang="en-US" sz="1400" b="0" i="0" u="none" strike="noStrike" baseline="0">
                <a:solidFill>
                  <a:srgbClr val="262626"/>
                </a:solidFill>
                <a:latin typeface="Arial"/>
                <a:ea typeface="Arial"/>
                <a:cs typeface="Arial"/>
              </a:rPr>
              <a:t>BJT devices to be used: pnp_05p00x05p00,pnp_05p00x00p42</a:t>
            </a:r>
            <a:r>
              <a:rPr lang="en-US" sz="1400" b="0" i="0">
                <a:solidFill>
                  <a:srgbClr val="000000"/>
                </a:solidFill>
                <a:latin typeface="Arial"/>
                <a:ea typeface="Arial"/>
                <a:cs typeface="Arial"/>
              </a:rPr>
              <a:t>​</a:t>
            </a:r>
            <a:endParaRPr lang="en-US" sz="1400" b="0" i="0" dirty="0">
              <a:solidFill>
                <a:srgbClr val="000000"/>
              </a:solidFill>
              <a:latin typeface="Arial"/>
              <a:ea typeface="Arial"/>
              <a:cs typeface="Arial"/>
            </a:endParaRPr>
          </a:p>
          <a:p>
            <a:pPr marL="228600" lvl="1" indent="-228600" algn="l" rtl="0">
              <a:buFont typeface=""/>
              <a:buChar char="•"/>
            </a:pPr>
            <a:r>
              <a:rPr lang="en-US" sz="1400" b="0" i="0" u="none" strike="noStrike" baseline="0">
                <a:solidFill>
                  <a:srgbClr val="262626"/>
                </a:solidFill>
                <a:latin typeface="Arial"/>
                <a:ea typeface="Arial"/>
                <a:cs typeface="Arial"/>
              </a:rPr>
              <a:t>Resistor devices to be used: ppolyf_u,ppolyf_u_1k, ppolyf_u_2k, ppolyf_u_3k</a:t>
            </a:r>
            <a:r>
              <a:rPr lang="en-US" sz="1400" b="0" i="0">
                <a:solidFill>
                  <a:srgbClr val="000000"/>
                </a:solidFill>
                <a:latin typeface="Arial"/>
                <a:ea typeface="Arial"/>
                <a:cs typeface="Arial"/>
              </a:rPr>
              <a:t>​</a:t>
            </a:r>
          </a:p>
        </p:txBody>
      </p:sp>
    </p:spTree>
    <p:extLst>
      <p:ext uri="{BB962C8B-B14F-4D97-AF65-F5344CB8AC3E}">
        <p14:creationId xmlns:p14="http://schemas.microsoft.com/office/powerpoint/2010/main" val="1209785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72D52-ED75-D1A2-B83A-0ED8E61C6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C9C04-FCFD-28F4-A23A-BC033D8EC9C7}"/>
              </a:ext>
            </a:extLst>
          </p:cNvPr>
          <p:cNvSpPr>
            <a:spLocks noGrp="1"/>
          </p:cNvSpPr>
          <p:nvPr>
            <p:ph type="title"/>
          </p:nvPr>
        </p:nvSpPr>
        <p:spPr/>
        <p:txBody>
          <a:bodyPr/>
          <a:lstStyle/>
          <a:p>
            <a:r>
              <a:rPr lang="en-US"/>
              <a:t>SECOND ORDER DTDSM ADC</a:t>
            </a:r>
          </a:p>
        </p:txBody>
      </p:sp>
      <p:sp>
        <p:nvSpPr>
          <p:cNvPr id="3" name="Text Placeholder 2">
            <a:extLst>
              <a:ext uri="{FF2B5EF4-FFF2-40B4-BE49-F238E27FC236}">
                <a16:creationId xmlns:a16="http://schemas.microsoft.com/office/drawing/2014/main" id="{2B69390A-57A4-11F7-DC59-C6A07D80D14C}"/>
              </a:ext>
            </a:extLst>
          </p:cNvPr>
          <p:cNvSpPr>
            <a:spLocks noGrp="1"/>
          </p:cNvSpPr>
          <p:nvPr>
            <p:ph type="body" idx="1"/>
          </p:nvPr>
        </p:nvSpPr>
        <p:spPr/>
        <p:txBody>
          <a:bodyPr/>
          <a:lstStyle/>
          <a:p>
            <a:pPr marL="114300" indent="0">
              <a:buNone/>
            </a:pPr>
            <a:endParaRPr lang="en-US" dirty="0">
              <a:solidFill>
                <a:srgbClr val="262626"/>
              </a:solidFill>
            </a:endParaRPr>
          </a:p>
          <a:p>
            <a:pPr lvl="1"/>
            <a:endParaRPr lang="en-US"/>
          </a:p>
        </p:txBody>
      </p:sp>
      <p:pic>
        <p:nvPicPr>
          <p:cNvPr id="4" name="Picture 3">
            <a:extLst>
              <a:ext uri="{FF2B5EF4-FFF2-40B4-BE49-F238E27FC236}">
                <a16:creationId xmlns:a16="http://schemas.microsoft.com/office/drawing/2014/main" id="{AE58E5A9-122D-E7F3-3437-20C2CB6B78D0}"/>
              </a:ext>
            </a:extLst>
          </p:cNvPr>
          <p:cNvPicPr>
            <a:picLocks noChangeAspect="1"/>
          </p:cNvPicPr>
          <p:nvPr/>
        </p:nvPicPr>
        <p:blipFill>
          <a:blip r:embed="rId2"/>
          <a:stretch>
            <a:fillRect/>
          </a:stretch>
        </p:blipFill>
        <p:spPr>
          <a:xfrm>
            <a:off x="309966" y="1287224"/>
            <a:ext cx="5556693" cy="3021278"/>
          </a:xfrm>
          <a:prstGeom prst="rect">
            <a:avLst/>
          </a:prstGeom>
        </p:spPr>
      </p:pic>
      <p:graphicFrame>
        <p:nvGraphicFramePr>
          <p:cNvPr id="6" name="Table 5">
            <a:extLst>
              <a:ext uri="{FF2B5EF4-FFF2-40B4-BE49-F238E27FC236}">
                <a16:creationId xmlns:a16="http://schemas.microsoft.com/office/drawing/2014/main" id="{21AAF9A8-A968-5D70-0FFC-C238AC86724D}"/>
              </a:ext>
            </a:extLst>
          </p:cNvPr>
          <p:cNvGraphicFramePr>
            <a:graphicFrameLocks noGrp="1"/>
          </p:cNvGraphicFramePr>
          <p:nvPr>
            <p:extLst>
              <p:ext uri="{D42A27DB-BD31-4B8C-83A1-F6EECF244321}">
                <p14:modId xmlns:p14="http://schemas.microsoft.com/office/powerpoint/2010/main" val="3815147785"/>
              </p:ext>
            </p:extLst>
          </p:nvPr>
        </p:nvGraphicFramePr>
        <p:xfrm>
          <a:off x="5962365" y="1151529"/>
          <a:ext cx="3056516" cy="3886200"/>
        </p:xfrm>
        <a:graphic>
          <a:graphicData uri="http://schemas.openxmlformats.org/drawingml/2006/table">
            <a:tbl>
              <a:tblPr bandRow="1">
                <a:tableStyleId>{5C22544A-7EE6-4342-B048-85BDC9FD1C3A}</a:tableStyleId>
              </a:tblPr>
              <a:tblGrid>
                <a:gridCol w="1528258">
                  <a:extLst>
                    <a:ext uri="{9D8B030D-6E8A-4147-A177-3AD203B41FA5}">
                      <a16:colId xmlns:a16="http://schemas.microsoft.com/office/drawing/2014/main" val="1973719096"/>
                    </a:ext>
                  </a:extLst>
                </a:gridCol>
                <a:gridCol w="1528258">
                  <a:extLst>
                    <a:ext uri="{9D8B030D-6E8A-4147-A177-3AD203B41FA5}">
                      <a16:colId xmlns:a16="http://schemas.microsoft.com/office/drawing/2014/main" val="402192806"/>
                    </a:ext>
                  </a:extLst>
                </a:gridCol>
              </a:tblGrid>
              <a:tr h="0">
                <a:tc>
                  <a:txBody>
                    <a:bodyPr/>
                    <a:lstStyle/>
                    <a:p>
                      <a:pPr>
                        <a:buNone/>
                      </a:pPr>
                      <a:r>
                        <a:rPr lang="en-US" b="1">
                          <a:solidFill>
                            <a:schemeClr val="tx1"/>
                          </a:solidFill>
                        </a:rPr>
                        <a:t>Parameter</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b="1">
                          <a:solidFill>
                            <a:schemeClr val="tx1"/>
                          </a:solidFill>
                        </a:rPr>
                        <a:t>Target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173645305"/>
                  </a:ext>
                </a:extLst>
              </a:tr>
              <a:tr h="0">
                <a:tc>
                  <a:txBody>
                    <a:bodyPr/>
                    <a:lstStyle/>
                    <a:p>
                      <a:pPr>
                        <a:buNone/>
                      </a:pPr>
                      <a:r>
                        <a:rPr lang="en-US">
                          <a:solidFill>
                            <a:schemeClr val="tx1"/>
                          </a:solidFill>
                        </a:rPr>
                        <a:t>Topology</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a:solidFill>
                            <a:schemeClr val="tx1"/>
                          </a:solidFill>
                        </a:rPr>
                        <a:t>2nd-order DT CIFF, SC</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94496871"/>
                  </a:ext>
                </a:extLst>
              </a:tr>
              <a:tr h="0">
                <a:tc>
                  <a:txBody>
                    <a:bodyPr/>
                    <a:lstStyle/>
                    <a:p>
                      <a:pPr>
                        <a:buNone/>
                      </a:pPr>
                      <a:r>
                        <a:rPr lang="en-US">
                          <a:solidFill>
                            <a:schemeClr val="tx1"/>
                          </a:solidFill>
                        </a:rPr>
                        <a:t>Process / Supply</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a:solidFill>
                            <a:schemeClr val="tx1"/>
                          </a:solidFill>
                        </a:rPr>
                        <a:t>GF180MCU 180 nm / 3.3 V</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04455873"/>
                  </a:ext>
                </a:extLst>
              </a:tr>
              <a:tr h="0">
                <a:tc>
                  <a:txBody>
                    <a:bodyPr/>
                    <a:lstStyle/>
                    <a:p>
                      <a:pPr>
                        <a:buNone/>
                      </a:pPr>
                      <a:r>
                        <a:rPr lang="en-US">
                          <a:solidFill>
                            <a:schemeClr val="tx1"/>
                          </a:solidFill>
                        </a:rPr>
                        <a:t>Signal bandwidth</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a:solidFill>
                            <a:schemeClr val="tx1"/>
                          </a:solidFill>
                        </a:rPr>
                        <a:t>0.5 – 150 Hz</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437321835"/>
                  </a:ext>
                </a:extLst>
              </a:tr>
              <a:tr h="0">
                <a:tc>
                  <a:txBody>
                    <a:bodyPr/>
                    <a:lstStyle/>
                    <a:p>
                      <a:pPr>
                        <a:buNone/>
                      </a:pPr>
                      <a:r>
                        <a:rPr lang="en-US">
                          <a:solidFill>
                            <a:schemeClr val="tx1"/>
                          </a:solidFill>
                        </a:rPr>
                        <a:t>Sampling frequency fs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a:solidFill>
                            <a:schemeClr val="tx1"/>
                          </a:solidFill>
                        </a:rPr>
                        <a:t>76.8 kHz</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501144326"/>
                  </a:ext>
                </a:extLst>
              </a:tr>
              <a:tr h="0">
                <a:tc>
                  <a:txBody>
                    <a:bodyPr/>
                    <a:lstStyle/>
                    <a:p>
                      <a:pPr>
                        <a:buNone/>
                      </a:pPr>
                      <a:r>
                        <a:rPr lang="en-US">
                          <a:solidFill>
                            <a:schemeClr val="tx1"/>
                          </a:solidFill>
                        </a:rPr>
                        <a:t>OSR</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a:solidFill>
                            <a:schemeClr val="tx1"/>
                          </a:solidFill>
                        </a:rPr>
                        <a:t>256</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74666740"/>
                  </a:ext>
                </a:extLst>
              </a:tr>
              <a:tr h="0">
                <a:tc>
                  <a:txBody>
                    <a:bodyPr/>
                    <a:lstStyle/>
                    <a:p>
                      <a:pPr>
                        <a:buNone/>
                      </a:pPr>
                      <a:r>
                        <a:rPr lang="en-US">
                          <a:solidFill>
                            <a:schemeClr val="tx1"/>
                          </a:solidFill>
                        </a:rPr>
                        <a:t>Target SNDR</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a:solidFill>
                            <a:schemeClr val="tx1"/>
                          </a:solidFill>
                        </a:rPr>
                        <a:t>≥ 78 dB</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965253707"/>
                  </a:ext>
                </a:extLst>
              </a:tr>
              <a:tr h="0">
                <a:tc>
                  <a:txBody>
                    <a:bodyPr/>
                    <a:lstStyle/>
                    <a:p>
                      <a:pPr>
                        <a:buNone/>
                      </a:pPr>
                      <a:r>
                        <a:rPr lang="en-US">
                          <a:solidFill>
                            <a:schemeClr val="tx1"/>
                          </a:solidFill>
                        </a:rPr>
                        <a:t>ENOB</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a:solidFill>
                            <a:schemeClr val="tx1"/>
                          </a:solidFill>
                        </a:rPr>
                        <a:t>≥ 13 bit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015279565"/>
                  </a:ext>
                </a:extLst>
              </a:tr>
              <a:tr h="0">
                <a:tc>
                  <a:txBody>
                    <a:bodyPr/>
                    <a:lstStyle/>
                    <a:p>
                      <a:pPr>
                        <a:buNone/>
                      </a:pPr>
                      <a:r>
                        <a:rPr lang="en-US">
                          <a:solidFill>
                            <a:schemeClr val="tx1"/>
                          </a:solidFill>
                        </a:rPr>
                        <a:t>OTA DC gain</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a:solidFill>
                            <a:schemeClr val="tx1"/>
                          </a:solidFill>
                        </a:rPr>
                        <a:t>≥ 60 dB</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87938735"/>
                  </a:ext>
                </a:extLst>
              </a:tr>
              <a:tr h="0">
                <a:tc>
                  <a:txBody>
                    <a:bodyPr/>
                    <a:lstStyle/>
                    <a:p>
                      <a:pPr>
                        <a:buNone/>
                      </a:pPr>
                      <a:r>
                        <a:rPr lang="en-US">
                          <a:solidFill>
                            <a:schemeClr val="tx1"/>
                          </a:solidFill>
                        </a:rPr>
                        <a:t>OTA GBW</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a:solidFill>
                            <a:schemeClr val="tx1"/>
                          </a:solidFill>
                        </a:rPr>
                        <a:t>≥ 400 kHz (5 × fs)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808356969"/>
                  </a:ext>
                </a:extLst>
              </a:tr>
              <a:tr h="0">
                <a:tc>
                  <a:txBody>
                    <a:bodyPr/>
                    <a:lstStyle/>
                    <a:p>
                      <a:pPr>
                        <a:buNone/>
                      </a:pPr>
                      <a:r>
                        <a:rPr lang="en-US">
                          <a:solidFill>
                            <a:schemeClr val="tx1"/>
                          </a:solidFill>
                        </a:rPr>
                        <a:t>Total power</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a:solidFill>
                            <a:schemeClr val="tx1"/>
                          </a:solidFill>
                        </a:rPr>
                        <a:t>&lt; 30 µW</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742104343"/>
                  </a:ext>
                </a:extLst>
              </a:tr>
            </a:tbl>
          </a:graphicData>
        </a:graphic>
      </p:graphicFrame>
    </p:spTree>
    <p:extLst>
      <p:ext uri="{BB962C8B-B14F-4D97-AF65-F5344CB8AC3E}">
        <p14:creationId xmlns:p14="http://schemas.microsoft.com/office/powerpoint/2010/main" val="2272382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97644-8220-215C-9B11-A9B4F38E8F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DFA1E-6892-0B3B-1440-BDEC8B5DC8B9}"/>
              </a:ext>
            </a:extLst>
          </p:cNvPr>
          <p:cNvSpPr>
            <a:spLocks noGrp="1"/>
          </p:cNvSpPr>
          <p:nvPr>
            <p:ph type="title"/>
          </p:nvPr>
        </p:nvSpPr>
        <p:spPr/>
        <p:txBody>
          <a:bodyPr/>
          <a:lstStyle/>
          <a:p>
            <a:r>
              <a:rPr lang="en-US"/>
              <a:t>R-R detection using pan Tompkins</a:t>
            </a:r>
          </a:p>
        </p:txBody>
      </p:sp>
      <p:pic>
        <p:nvPicPr>
          <p:cNvPr id="3" name="Picture 2">
            <a:extLst>
              <a:ext uri="{FF2B5EF4-FFF2-40B4-BE49-F238E27FC236}">
                <a16:creationId xmlns:a16="http://schemas.microsoft.com/office/drawing/2014/main" id="{7C89C8BB-1C39-0F25-60BF-C9A5891C05BA}"/>
              </a:ext>
            </a:extLst>
          </p:cNvPr>
          <p:cNvPicPr>
            <a:picLocks noChangeAspect="1"/>
          </p:cNvPicPr>
          <p:nvPr/>
        </p:nvPicPr>
        <p:blipFill>
          <a:blip r:embed="rId2"/>
          <a:stretch>
            <a:fillRect/>
          </a:stretch>
        </p:blipFill>
        <p:spPr>
          <a:xfrm>
            <a:off x="1036449" y="1124068"/>
            <a:ext cx="7080789" cy="3902756"/>
          </a:xfrm>
          <a:prstGeom prst="rect">
            <a:avLst/>
          </a:prstGeom>
        </p:spPr>
      </p:pic>
    </p:spTree>
    <p:extLst>
      <p:ext uri="{BB962C8B-B14F-4D97-AF65-F5344CB8AC3E}">
        <p14:creationId xmlns:p14="http://schemas.microsoft.com/office/powerpoint/2010/main" val="3850853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2D159-B919-E48B-36CF-908F36DE79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AA9186-6938-AD1D-E744-4E49A6A8B31C}"/>
              </a:ext>
            </a:extLst>
          </p:cNvPr>
          <p:cNvSpPr>
            <a:spLocks noGrp="1"/>
          </p:cNvSpPr>
          <p:nvPr>
            <p:ph type="title"/>
          </p:nvPr>
        </p:nvSpPr>
        <p:spPr/>
        <p:txBody>
          <a:bodyPr/>
          <a:lstStyle/>
          <a:p>
            <a:r>
              <a:rPr lang="en-US" dirty="0"/>
              <a:t>Pin </a:t>
            </a:r>
            <a:r>
              <a:rPr lang="en-US"/>
              <a:t>Assignment</a:t>
            </a:r>
            <a:endParaRPr lang="en-US" dirty="0"/>
          </a:p>
        </p:txBody>
      </p:sp>
      <p:graphicFrame>
        <p:nvGraphicFramePr>
          <p:cNvPr id="5" name="Table 4">
            <a:extLst>
              <a:ext uri="{FF2B5EF4-FFF2-40B4-BE49-F238E27FC236}">
                <a16:creationId xmlns:a16="http://schemas.microsoft.com/office/drawing/2014/main" id="{B8CDE68B-DD62-97DC-7E0C-D8A5F2AC95FB}"/>
              </a:ext>
            </a:extLst>
          </p:cNvPr>
          <p:cNvGraphicFramePr>
            <a:graphicFrameLocks noGrp="1"/>
          </p:cNvGraphicFramePr>
          <p:nvPr>
            <p:extLst>
              <p:ext uri="{D42A27DB-BD31-4B8C-83A1-F6EECF244321}">
                <p14:modId xmlns:p14="http://schemas.microsoft.com/office/powerpoint/2010/main" val="2596806453"/>
              </p:ext>
            </p:extLst>
          </p:nvPr>
        </p:nvGraphicFramePr>
        <p:xfrm>
          <a:off x="452082" y="1177119"/>
          <a:ext cx="8235980" cy="3736358"/>
        </p:xfrm>
        <a:graphic>
          <a:graphicData uri="http://schemas.openxmlformats.org/drawingml/2006/table">
            <a:tbl>
              <a:tblPr bandRow="1">
                <a:tableStyleId>{5C22544A-7EE6-4342-B048-85BDC9FD1C3A}</a:tableStyleId>
              </a:tblPr>
              <a:tblGrid>
                <a:gridCol w="2058995">
                  <a:extLst>
                    <a:ext uri="{9D8B030D-6E8A-4147-A177-3AD203B41FA5}">
                      <a16:colId xmlns:a16="http://schemas.microsoft.com/office/drawing/2014/main" val="2131991586"/>
                    </a:ext>
                  </a:extLst>
                </a:gridCol>
                <a:gridCol w="2058995">
                  <a:extLst>
                    <a:ext uri="{9D8B030D-6E8A-4147-A177-3AD203B41FA5}">
                      <a16:colId xmlns:a16="http://schemas.microsoft.com/office/drawing/2014/main" val="1764322923"/>
                    </a:ext>
                  </a:extLst>
                </a:gridCol>
                <a:gridCol w="2058995">
                  <a:extLst>
                    <a:ext uri="{9D8B030D-6E8A-4147-A177-3AD203B41FA5}">
                      <a16:colId xmlns:a16="http://schemas.microsoft.com/office/drawing/2014/main" val="4040539102"/>
                    </a:ext>
                  </a:extLst>
                </a:gridCol>
                <a:gridCol w="2058995">
                  <a:extLst>
                    <a:ext uri="{9D8B030D-6E8A-4147-A177-3AD203B41FA5}">
                      <a16:colId xmlns:a16="http://schemas.microsoft.com/office/drawing/2014/main" val="2654225729"/>
                    </a:ext>
                  </a:extLst>
                </a:gridCol>
              </a:tblGrid>
              <a:tr h="345458">
                <a:tc>
                  <a:txBody>
                    <a:bodyPr/>
                    <a:lstStyle/>
                    <a:p>
                      <a:pPr algn="ctr" rtl="0" fontAlgn="t">
                        <a:buNone/>
                      </a:pPr>
                      <a:r>
                        <a:rPr lang="en-US" sz="1000" b="1" i="0" u="none" strike="noStrike">
                          <a:solidFill>
                            <a:srgbClr val="000000"/>
                          </a:solidFill>
                          <a:effectLst/>
                          <a:latin typeface="Arial"/>
                          <a:cs typeface="Arial"/>
                        </a:rPr>
                        <a:t>Pin Name</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t">
                        <a:buNone/>
                      </a:pPr>
                      <a:r>
                        <a:rPr lang="en-US" sz="1000" b="1" i="0" u="none" strike="noStrike">
                          <a:solidFill>
                            <a:srgbClr val="000000"/>
                          </a:solidFill>
                          <a:effectLst/>
                          <a:latin typeface="Arial"/>
                          <a:cs typeface="Arial"/>
                        </a:rPr>
                        <a:t>Direction</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t">
                        <a:buNone/>
                      </a:pPr>
                      <a:r>
                        <a:rPr lang="en-US" sz="1000" b="1" i="0" u="none" strike="noStrike">
                          <a:solidFill>
                            <a:srgbClr val="000000"/>
                          </a:solidFill>
                          <a:effectLst/>
                          <a:latin typeface="Arial"/>
                          <a:cs typeface="Arial"/>
                        </a:rPr>
                        <a:t>Type</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t">
                        <a:buNone/>
                      </a:pPr>
                      <a:r>
                        <a:rPr lang="en-US" sz="1000" b="1" i="0" u="none" strike="noStrike">
                          <a:solidFill>
                            <a:srgbClr val="000000"/>
                          </a:solidFill>
                          <a:effectLst/>
                          <a:latin typeface="Arial"/>
                          <a:cs typeface="Arial"/>
                        </a:rPr>
                        <a:t>Description</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50992773"/>
                  </a:ext>
                </a:extLst>
              </a:tr>
              <a:tr h="0">
                <a:tc>
                  <a:txBody>
                    <a:bodyPr/>
                    <a:lstStyle/>
                    <a:p>
                      <a:pPr rtl="0" fontAlgn="t">
                        <a:buNone/>
                      </a:pPr>
                      <a:r>
                        <a:rPr lang="en-US" sz="1000" b="0" i="0" u="none" strike="noStrike">
                          <a:solidFill>
                            <a:srgbClr val="000000"/>
                          </a:solidFill>
                          <a:effectLst/>
                          <a:latin typeface="Arial"/>
                          <a:cs typeface="Arial"/>
                        </a:rPr>
                        <a:t>INP, INN</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Input</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Analog</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ECG differential input pair</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59450741"/>
                  </a:ext>
                </a:extLst>
              </a:tr>
              <a:tr h="0">
                <a:tc>
                  <a:txBody>
                    <a:bodyPr/>
                    <a:lstStyle/>
                    <a:p>
                      <a:pPr rtl="0" fontAlgn="t">
                        <a:buNone/>
                      </a:pPr>
                      <a:r>
                        <a:rPr lang="en-US" sz="1000" b="0" i="0" u="none" strike="noStrike">
                          <a:solidFill>
                            <a:srgbClr val="000000"/>
                          </a:solidFill>
                          <a:effectLst/>
                          <a:latin typeface="Arial"/>
                          <a:cs typeface="Arial"/>
                        </a:rPr>
                        <a:t>VREF, VBIAS</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Input</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Analog</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Reference voltage and bias trim</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4953085"/>
                  </a:ext>
                </a:extLst>
              </a:tr>
              <a:tr h="0">
                <a:tc>
                  <a:txBody>
                    <a:bodyPr/>
                    <a:lstStyle/>
                    <a:p>
                      <a:pPr rtl="0" fontAlgn="t">
                        <a:buNone/>
                      </a:pPr>
                      <a:r>
                        <a:rPr lang="en-US" sz="1000" b="0" i="0" u="none" strike="noStrike">
                          <a:solidFill>
                            <a:srgbClr val="000000"/>
                          </a:solidFill>
                          <a:effectLst/>
                          <a:latin typeface="Arial"/>
                          <a:cs typeface="Arial"/>
                        </a:rPr>
                        <a:t>VDD_A, GND_A</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Supply</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Analog</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Analog supply and ground (3.3 V)</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2250075"/>
                  </a:ext>
                </a:extLst>
              </a:tr>
              <a:tr h="0">
                <a:tc>
                  <a:txBody>
                    <a:bodyPr/>
                    <a:lstStyle/>
                    <a:p>
                      <a:pPr rtl="0" fontAlgn="t">
                        <a:buNone/>
                      </a:pPr>
                      <a:r>
                        <a:rPr lang="en-US" sz="1000" b="0" i="0" u="none" strike="noStrike">
                          <a:solidFill>
                            <a:srgbClr val="000000"/>
                          </a:solidFill>
                          <a:effectLst/>
                          <a:latin typeface="Arial"/>
                          <a:cs typeface="Arial"/>
                        </a:rPr>
                        <a:t>VDD_D, GND_D</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Supply</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Digital</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Digital supply and ground (1.8 V)</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13299444"/>
                  </a:ext>
                </a:extLst>
              </a:tr>
              <a:tr h="0">
                <a:tc>
                  <a:txBody>
                    <a:bodyPr/>
                    <a:lstStyle/>
                    <a:p>
                      <a:pPr rtl="0" fontAlgn="t">
                        <a:buNone/>
                      </a:pPr>
                      <a:r>
                        <a:rPr lang="en-US" sz="1000" b="0" i="0" u="none" strike="noStrike">
                          <a:solidFill>
                            <a:srgbClr val="000000"/>
                          </a:solidFill>
                          <a:effectLst/>
                          <a:latin typeface="Arial"/>
                          <a:cs typeface="Arial"/>
                        </a:rPr>
                        <a:t>CLK</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Input</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Digital</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Off-chip clock</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53592498"/>
                  </a:ext>
                </a:extLst>
              </a:tr>
              <a:tr h="0">
                <a:tc>
                  <a:txBody>
                    <a:bodyPr/>
                    <a:lstStyle/>
                    <a:p>
                      <a:pPr rtl="0" fontAlgn="t">
                        <a:buNone/>
                      </a:pPr>
                      <a:r>
                        <a:rPr lang="en-US" sz="1000" b="0" i="0" u="none" strike="noStrike">
                          <a:solidFill>
                            <a:srgbClr val="000000"/>
                          </a:solidFill>
                          <a:effectLst/>
                          <a:latin typeface="Arial"/>
                          <a:cs typeface="Arial"/>
                        </a:rPr>
                        <a:t>DET</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Output</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Digital</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R-peak event pulse</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886880"/>
                  </a:ext>
                </a:extLst>
              </a:tr>
              <a:tr h="0">
                <a:tc>
                  <a:txBody>
                    <a:bodyPr/>
                    <a:lstStyle/>
                    <a:p>
                      <a:pPr rtl="0" fontAlgn="t">
                        <a:buNone/>
                      </a:pPr>
                      <a:r>
                        <a:rPr lang="en-US" sz="1000" b="0" i="0" u="none" strike="noStrike">
                          <a:solidFill>
                            <a:srgbClr val="000000"/>
                          </a:solidFill>
                          <a:effectLst/>
                          <a:latin typeface="Arial"/>
                          <a:cs typeface="Arial"/>
                        </a:rPr>
                        <a:t>RR_OUT</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Output</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Digital</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R-R interval data output</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8964767"/>
                  </a:ext>
                </a:extLst>
              </a:tr>
              <a:tr h="0">
                <a:tc>
                  <a:txBody>
                    <a:bodyPr/>
                    <a:lstStyle/>
                    <a:p>
                      <a:pPr rtl="0" fontAlgn="t">
                        <a:buNone/>
                      </a:pPr>
                      <a:r>
                        <a:rPr lang="en-US" sz="1000" b="0" i="0" u="none" strike="noStrike">
                          <a:solidFill>
                            <a:srgbClr val="000000"/>
                          </a:solidFill>
                          <a:effectLst/>
                          <a:latin typeface="Arial"/>
                          <a:cs typeface="Arial"/>
                        </a:rPr>
                        <a:t>DOUT</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Output</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Digital</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ΔΣ ADC bitstream</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9262098"/>
                  </a:ext>
                </a:extLst>
              </a:tr>
              <a:tr h="0">
                <a:tc>
                  <a:txBody>
                    <a:bodyPr/>
                    <a:lstStyle/>
                    <a:p>
                      <a:pPr rtl="0" fontAlgn="t">
                        <a:buNone/>
                      </a:pPr>
                      <a:r>
                        <a:rPr lang="en-US" sz="1000" b="0" i="0" u="none" strike="noStrike">
                          <a:solidFill>
                            <a:srgbClr val="000000"/>
                          </a:solidFill>
                          <a:effectLst/>
                          <a:latin typeface="Arial"/>
                          <a:cs typeface="Arial"/>
                        </a:rPr>
                        <a:t>MODE</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Input</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Digital</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rtl="0" fontAlgn="t">
                        <a:buNone/>
                      </a:pPr>
                      <a:r>
                        <a:rPr lang="en-US" sz="1000" b="0" i="0" u="none" strike="noStrike">
                          <a:solidFill>
                            <a:srgbClr val="000000"/>
                          </a:solidFill>
                          <a:effectLst/>
                          <a:latin typeface="Arial"/>
                          <a:cs typeface="Arial"/>
                        </a:rPr>
                        <a:t>ADC enable / mode select (Event Trigger / Continuous)</a:t>
                      </a:r>
                      <a:endParaRPr lang="en-US" sz="1000">
                        <a:effectLst/>
                        <a:latin typeface="Arial"/>
                        <a:cs typeface="Arial"/>
                      </a:endParaRPr>
                    </a:p>
                  </a:txBody>
                  <a:tcPr marL="95250" marR="95250" marT="95250" marB="952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51827374"/>
                  </a:ext>
                </a:extLst>
              </a:tr>
            </a:tbl>
          </a:graphicData>
        </a:graphic>
      </p:graphicFrame>
    </p:spTree>
    <p:extLst>
      <p:ext uri="{BB962C8B-B14F-4D97-AF65-F5344CB8AC3E}">
        <p14:creationId xmlns:p14="http://schemas.microsoft.com/office/powerpoint/2010/main" val="2498426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prstGeom prst="rect">
            <a:avLst/>
          </a:prstGeom>
        </p:spPr>
        <p:txBody>
          <a:bodyPr spcFirstLastPara="1" wrap="square" lIns="91425" tIns="91425" rIns="91425" bIns="91425" anchor="t" anchorCtr="0">
            <a:normAutofit/>
          </a:bodyPr>
          <a:lstStyle/>
          <a:p>
            <a:pPr marL="0" lvl="0" indent="0" rtl="0">
              <a:spcBef>
                <a:spcPts val="0"/>
              </a:spcBef>
              <a:spcAft>
                <a:spcPts val="0"/>
              </a:spcAft>
              <a:buNone/>
            </a:pPr>
            <a:r>
              <a:rPr lang="en"/>
              <a:t>Team background</a:t>
            </a:r>
            <a:endParaRPr/>
          </a:p>
        </p:txBody>
      </p:sp>
      <p:graphicFrame>
        <p:nvGraphicFramePr>
          <p:cNvPr id="2" name="Table 1">
            <a:extLst>
              <a:ext uri="{FF2B5EF4-FFF2-40B4-BE49-F238E27FC236}">
                <a16:creationId xmlns:a16="http://schemas.microsoft.com/office/drawing/2014/main" id="{3A6AB5A3-44EB-3ED3-842F-88B407D46081}"/>
              </a:ext>
            </a:extLst>
          </p:cNvPr>
          <p:cNvGraphicFramePr>
            <a:graphicFrameLocks noGrp="1"/>
          </p:cNvGraphicFramePr>
          <p:nvPr>
            <p:extLst>
              <p:ext uri="{D42A27DB-BD31-4B8C-83A1-F6EECF244321}">
                <p14:modId xmlns:p14="http://schemas.microsoft.com/office/powerpoint/2010/main" val="4242309875"/>
              </p:ext>
            </p:extLst>
          </p:nvPr>
        </p:nvGraphicFramePr>
        <p:xfrm>
          <a:off x="311700" y="1100517"/>
          <a:ext cx="8520600" cy="3876082"/>
        </p:xfrm>
        <a:graphic>
          <a:graphicData uri="http://schemas.openxmlformats.org/drawingml/2006/table">
            <a:tbl>
              <a:tblPr firstRow="1" bandRow="1">
                <a:tableStyleId>{5C22544A-7EE6-4342-B048-85BDC9FD1C3A}</a:tableStyleId>
              </a:tblPr>
              <a:tblGrid>
                <a:gridCol w="1784137">
                  <a:extLst>
                    <a:ext uri="{9D8B030D-6E8A-4147-A177-3AD203B41FA5}">
                      <a16:colId xmlns:a16="http://schemas.microsoft.com/office/drawing/2014/main" val="2844866846"/>
                    </a:ext>
                  </a:extLst>
                </a:gridCol>
                <a:gridCol w="6736463">
                  <a:extLst>
                    <a:ext uri="{9D8B030D-6E8A-4147-A177-3AD203B41FA5}">
                      <a16:colId xmlns:a16="http://schemas.microsoft.com/office/drawing/2014/main" val="1713248056"/>
                    </a:ext>
                  </a:extLst>
                </a:gridCol>
              </a:tblGrid>
              <a:tr h="335591">
                <a:tc>
                  <a:txBody>
                    <a:bodyPr/>
                    <a:lstStyle/>
                    <a:p>
                      <a:r>
                        <a:rPr lang="en-US"/>
                        <a:t>Team Member</a:t>
                      </a:r>
                    </a:p>
                  </a:txBody>
                  <a:tcPr/>
                </a:tc>
                <a:tc>
                  <a:txBody>
                    <a:bodyPr/>
                    <a:lstStyle/>
                    <a:p>
                      <a:r>
                        <a:rPr lang="en-US"/>
                        <a:t>Academic Background / Work Experience</a:t>
                      </a:r>
                    </a:p>
                  </a:txBody>
                  <a:tcPr/>
                </a:tc>
                <a:extLst>
                  <a:ext uri="{0D108BD9-81ED-4DB2-BD59-A6C34878D82A}">
                    <a16:rowId xmlns:a16="http://schemas.microsoft.com/office/drawing/2014/main" val="1129639069"/>
                  </a:ext>
                </a:extLst>
              </a:tr>
              <a:tr h="777607">
                <a:tc>
                  <a:txBody>
                    <a:bodyPr/>
                    <a:lstStyle/>
                    <a:p>
                      <a:pPr algn="l"/>
                      <a:r>
                        <a:rPr lang="en-US"/>
                        <a:t>Surya </a:t>
                      </a:r>
                      <a:r>
                        <a:rPr lang="en-US" err="1"/>
                        <a:t>Varchasvi</a:t>
                      </a:r>
                      <a:endParaRPr lang="en-US"/>
                    </a:p>
                  </a:txBody>
                  <a:tcPr/>
                </a:tc>
                <a:tc>
                  <a:txBody>
                    <a:bodyPr/>
                    <a:lstStyle/>
                    <a:p>
                      <a:r>
                        <a:rPr lang="en-US"/>
                        <a:t>Postdoctoral Researcher at Tufts University and has 4 tapeout experience with chips ranging from switched-capacitor circuits, current references, PLLs, capacitive sensing front-ends, and level crossing ADC for time mode signal processing. </a:t>
                      </a:r>
                    </a:p>
                  </a:txBody>
                  <a:tcPr/>
                </a:tc>
                <a:extLst>
                  <a:ext uri="{0D108BD9-81ED-4DB2-BD59-A6C34878D82A}">
                    <a16:rowId xmlns:a16="http://schemas.microsoft.com/office/drawing/2014/main" val="2900978452"/>
                  </a:ext>
                </a:extLst>
              </a:tr>
              <a:tr h="727764">
                <a:tc>
                  <a:txBody>
                    <a:bodyPr/>
                    <a:lstStyle/>
                    <a:p>
                      <a:r>
                        <a:rPr lang="en-US"/>
                        <a:t>Wenxin Zeng</a:t>
                      </a:r>
                    </a:p>
                  </a:txBody>
                  <a:tcPr/>
                </a:tc>
                <a:tc>
                  <a:txBody>
                    <a:bodyPr/>
                    <a:lstStyle/>
                    <a:p>
                      <a:r>
                        <a:rPr lang="en-US" sz="1200"/>
                        <a:t>Last year PhD in ECE at Tufts University with coursework in Analog and Mixed Signal Design, design experience with CMOS imager, and tape out experience with Level Crossing ADC.</a:t>
                      </a:r>
                    </a:p>
                  </a:txBody>
                  <a:tcPr/>
                </a:tc>
                <a:extLst>
                  <a:ext uri="{0D108BD9-81ED-4DB2-BD59-A6C34878D82A}">
                    <a16:rowId xmlns:a16="http://schemas.microsoft.com/office/drawing/2014/main" val="3028357065"/>
                  </a:ext>
                </a:extLst>
              </a:tr>
              <a:tr h="727764">
                <a:tc>
                  <a:txBody>
                    <a:bodyPr/>
                    <a:lstStyle/>
                    <a:p>
                      <a:r>
                        <a:rPr lang="en-US"/>
                        <a:t>Yutong Wu</a:t>
                      </a:r>
                    </a:p>
                  </a:txBody>
                  <a:tcPr/>
                </a:tc>
                <a:tc>
                  <a:txBody>
                    <a:bodyPr/>
                    <a:lstStyle/>
                    <a:p>
                      <a:r>
                        <a:rPr lang="en-US" sz="1200"/>
                        <a:t>1st year PhD student in ECE at Tufts University with coursework in Analog and Mixed-signal CMOS circuit design and tape-out experience with capacitance sensing for microbials.</a:t>
                      </a:r>
                    </a:p>
                  </a:txBody>
                  <a:tcPr/>
                </a:tc>
                <a:extLst>
                  <a:ext uri="{0D108BD9-81ED-4DB2-BD59-A6C34878D82A}">
                    <a16:rowId xmlns:a16="http://schemas.microsoft.com/office/drawing/2014/main" val="680024896"/>
                  </a:ext>
                </a:extLst>
              </a:tr>
              <a:tr h="727764">
                <a:tc>
                  <a:txBody>
                    <a:bodyPr/>
                    <a:lstStyle/>
                    <a:p>
                      <a:r>
                        <a:rPr lang="en-US"/>
                        <a:t>Syeda Fatima </a:t>
                      </a:r>
                      <a:r>
                        <a:rPr lang="en-US" err="1"/>
                        <a:t>Fayruj</a:t>
                      </a:r>
                      <a:endParaRPr lang="en-US"/>
                    </a:p>
                  </a:txBody>
                  <a:tcPr/>
                </a:tc>
                <a:tc>
                  <a:txBody>
                    <a:bodyPr/>
                    <a:lstStyle/>
                    <a:p>
                      <a:pPr lvl="0">
                        <a:buNone/>
                      </a:pPr>
                      <a:r>
                        <a:rPr lang="en-US" sz="1200" b="0" i="0" u="none" strike="noStrike" noProof="0">
                          <a:solidFill>
                            <a:srgbClr val="000000"/>
                          </a:solidFill>
                          <a:latin typeface="Gill Sans MT"/>
                        </a:rPr>
                        <a:t>2</a:t>
                      </a:r>
                      <a:r>
                        <a:rPr lang="en-US" sz="1200" b="0" i="0" u="none" strike="noStrike" baseline="30000" noProof="0">
                          <a:solidFill>
                            <a:srgbClr val="000000"/>
                          </a:solidFill>
                          <a:latin typeface="Gill Sans MT"/>
                        </a:rPr>
                        <a:t>nd</a:t>
                      </a:r>
                      <a:r>
                        <a:rPr lang="en-US" sz="1200" b="0" i="0" u="none" strike="noStrike" noProof="0">
                          <a:solidFill>
                            <a:srgbClr val="000000"/>
                          </a:solidFill>
                          <a:latin typeface="Gill Sans MT"/>
                        </a:rPr>
                        <a:t> Ph.D. student in ECE at Tufts University with coursework in Analog and Digital IC Design, VLSI. Research interests include embedded systems, bioelectronics, and bio-hybrid platforms.</a:t>
                      </a:r>
                      <a:endParaRPr lang="en-US" sz="1200"/>
                    </a:p>
                  </a:txBody>
                  <a:tcPr/>
                </a:tc>
                <a:extLst>
                  <a:ext uri="{0D108BD9-81ED-4DB2-BD59-A6C34878D82A}">
                    <a16:rowId xmlns:a16="http://schemas.microsoft.com/office/drawing/2014/main" val="534278255"/>
                  </a:ext>
                </a:extLst>
              </a:tr>
              <a:tr h="579592">
                <a:tc>
                  <a:txBody>
                    <a:bodyPr/>
                    <a:lstStyle/>
                    <a:p>
                      <a:r>
                        <a:rPr lang="en-US"/>
                        <a:t>Leah Berube</a:t>
                      </a:r>
                    </a:p>
                  </a:txBody>
                  <a:tcPr/>
                </a:tc>
                <a:tc>
                  <a:txBody>
                    <a:bodyPr/>
                    <a:lstStyle/>
                    <a:p>
                      <a:r>
                        <a:rPr lang="en-US" sz="1200"/>
                        <a:t>2</a:t>
                      </a:r>
                      <a:r>
                        <a:rPr lang="en-US" sz="1200" baseline="30000"/>
                        <a:t>nd</a:t>
                      </a:r>
                      <a:r>
                        <a:rPr lang="en-US" sz="1200"/>
                        <a:t> Ph.D. student in ECE at Tufts University with coursework in Analog and Digital IC Design. Research interests include wearable bioelectronics and physiological signal processing.</a:t>
                      </a:r>
                    </a:p>
                  </a:txBody>
                  <a:tcPr/>
                </a:tc>
                <a:extLst>
                  <a:ext uri="{0D108BD9-81ED-4DB2-BD59-A6C34878D82A}">
                    <a16:rowId xmlns:a16="http://schemas.microsoft.com/office/drawing/2014/main" val="30428338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54C6-F254-EE97-70B9-EBFF7454C48F}"/>
              </a:ext>
            </a:extLst>
          </p:cNvPr>
          <p:cNvSpPr>
            <a:spLocks noGrp="1"/>
          </p:cNvSpPr>
          <p:nvPr>
            <p:ph type="title"/>
          </p:nvPr>
        </p:nvSpPr>
        <p:spPr/>
        <p:txBody>
          <a:bodyPr/>
          <a:lstStyle/>
          <a:p>
            <a:r>
              <a:rPr lang="en-US"/>
              <a:t>timeline</a:t>
            </a:r>
          </a:p>
        </p:txBody>
      </p:sp>
      <p:graphicFrame>
        <p:nvGraphicFramePr>
          <p:cNvPr id="4" name="Table 3">
            <a:extLst>
              <a:ext uri="{FF2B5EF4-FFF2-40B4-BE49-F238E27FC236}">
                <a16:creationId xmlns:a16="http://schemas.microsoft.com/office/drawing/2014/main" id="{828D6C45-F7B5-C326-BFE2-8462BC1B098E}"/>
              </a:ext>
            </a:extLst>
          </p:cNvPr>
          <p:cNvGraphicFramePr>
            <a:graphicFrameLocks noGrp="1"/>
          </p:cNvGraphicFramePr>
          <p:nvPr>
            <p:extLst>
              <p:ext uri="{D42A27DB-BD31-4B8C-83A1-F6EECF244321}">
                <p14:modId xmlns:p14="http://schemas.microsoft.com/office/powerpoint/2010/main" val="1150859276"/>
              </p:ext>
            </p:extLst>
          </p:nvPr>
        </p:nvGraphicFramePr>
        <p:xfrm>
          <a:off x="1666959" y="1266664"/>
          <a:ext cx="5470543" cy="2756161"/>
        </p:xfrm>
        <a:graphic>
          <a:graphicData uri="http://schemas.openxmlformats.org/drawingml/2006/table">
            <a:tbl>
              <a:tblPr/>
              <a:tblGrid>
                <a:gridCol w="941366">
                  <a:extLst>
                    <a:ext uri="{9D8B030D-6E8A-4147-A177-3AD203B41FA5}">
                      <a16:colId xmlns:a16="http://schemas.microsoft.com/office/drawing/2014/main" val="2852848095"/>
                    </a:ext>
                  </a:extLst>
                </a:gridCol>
                <a:gridCol w="910850">
                  <a:extLst>
                    <a:ext uri="{9D8B030D-6E8A-4147-A177-3AD203B41FA5}">
                      <a16:colId xmlns:a16="http://schemas.microsoft.com/office/drawing/2014/main" val="721099624"/>
                    </a:ext>
                  </a:extLst>
                </a:gridCol>
                <a:gridCol w="860711">
                  <a:extLst>
                    <a:ext uri="{9D8B030D-6E8A-4147-A177-3AD203B41FA5}">
                      <a16:colId xmlns:a16="http://schemas.microsoft.com/office/drawing/2014/main" val="1946518502"/>
                    </a:ext>
                  </a:extLst>
                </a:gridCol>
                <a:gridCol w="869067">
                  <a:extLst>
                    <a:ext uri="{9D8B030D-6E8A-4147-A177-3AD203B41FA5}">
                      <a16:colId xmlns:a16="http://schemas.microsoft.com/office/drawing/2014/main" val="2112489080"/>
                    </a:ext>
                  </a:extLst>
                </a:gridCol>
                <a:gridCol w="927562">
                  <a:extLst>
                    <a:ext uri="{9D8B030D-6E8A-4147-A177-3AD203B41FA5}">
                      <a16:colId xmlns:a16="http://schemas.microsoft.com/office/drawing/2014/main" val="3005746160"/>
                    </a:ext>
                  </a:extLst>
                </a:gridCol>
                <a:gridCol w="960987">
                  <a:extLst>
                    <a:ext uri="{9D8B030D-6E8A-4147-A177-3AD203B41FA5}">
                      <a16:colId xmlns:a16="http://schemas.microsoft.com/office/drawing/2014/main" val="916389157"/>
                    </a:ext>
                  </a:extLst>
                </a:gridCol>
              </a:tblGrid>
              <a:tr h="545928">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900">
                          <a:effectLst/>
                        </a:rPr>
                        <a:t>June 15- July 3</a:t>
                      </a: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900">
                          <a:effectLst/>
                        </a:rPr>
                        <a:t>July 6 – July 10</a:t>
                      </a: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900">
                          <a:effectLst/>
                        </a:rPr>
                        <a:t>July 13 – Aug 14 </a:t>
                      </a: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900">
                          <a:effectLst/>
                        </a:rPr>
                        <a:t> Aug 17 – Aug 21</a:t>
                      </a: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rtl="0" fontAlgn="t">
                        <a:buNone/>
                      </a:pPr>
                      <a:r>
                        <a:rPr lang="en-US" sz="900">
                          <a:effectLst/>
                        </a:rPr>
                        <a:t>Aug 24 – Aug 28</a:t>
                      </a: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5607646"/>
                  </a:ext>
                </a:extLst>
              </a:tr>
              <a:tr h="545928">
                <a:tc>
                  <a:txBody>
                    <a:bodyPr/>
                    <a:lstStyle/>
                    <a:p>
                      <a:pPr rtl="0" fontAlgn="t">
                        <a:buNone/>
                      </a:pPr>
                      <a:r>
                        <a:rPr lang="en-US" sz="900">
                          <a:effectLst/>
                        </a:rPr>
                        <a:t>Circuit Design</a:t>
                      </a:r>
                    </a:p>
                    <a:p>
                      <a:pPr rtl="0" fontAlgn="t">
                        <a:buNone/>
                      </a:pPr>
                      <a:r>
                        <a:rPr lang="en-US" sz="900">
                          <a:effectLst/>
                        </a:rPr>
                        <a:t>(Review on July 3)</a:t>
                      </a: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A9999"/>
                    </a:solid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27033305"/>
                  </a:ext>
                </a:extLst>
              </a:tr>
              <a:tr h="545928">
                <a:tc>
                  <a:txBody>
                    <a:bodyPr/>
                    <a:lstStyle/>
                    <a:p>
                      <a:pPr rtl="0" fontAlgn="t">
                        <a:buNone/>
                      </a:pPr>
                      <a:r>
                        <a:rPr lang="en-US" sz="900">
                          <a:effectLst/>
                        </a:rPr>
                        <a:t>Simulations</a:t>
                      </a:r>
                    </a:p>
                    <a:p>
                      <a:pPr rtl="0" fontAlgn="t">
                        <a:buNone/>
                      </a:pPr>
                      <a:r>
                        <a:rPr lang="en-US" sz="900">
                          <a:effectLst/>
                        </a:rPr>
                        <a:t>(Reviews on July 10 and 17)</a:t>
                      </a: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B26B"/>
                    </a:solid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B26B"/>
                    </a:solid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2903403"/>
                  </a:ext>
                </a:extLst>
              </a:tr>
              <a:tr h="626228">
                <a:tc>
                  <a:txBody>
                    <a:bodyPr/>
                    <a:lstStyle/>
                    <a:p>
                      <a:pPr rtl="0" fontAlgn="t">
                        <a:buNone/>
                      </a:pPr>
                      <a:r>
                        <a:rPr lang="en-US" sz="900">
                          <a:effectLst/>
                        </a:rPr>
                        <a:t>Layout (Reviews on Aug 14 and 21)</a:t>
                      </a: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41797362"/>
                  </a:ext>
                </a:extLst>
              </a:tr>
              <a:tr h="492149">
                <a:tc>
                  <a:txBody>
                    <a:bodyPr/>
                    <a:lstStyle/>
                    <a:p>
                      <a:pPr rtl="0" fontAlgn="t">
                        <a:buNone/>
                      </a:pPr>
                      <a:r>
                        <a:rPr lang="en-US" sz="900">
                          <a:effectLst/>
                        </a:rPr>
                        <a:t>Final Verification</a:t>
                      </a: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3C47D"/>
                    </a:solidFill>
                  </a:tcPr>
                </a:tc>
                <a:tc>
                  <a:txBody>
                    <a:bodyPr/>
                    <a:lstStyle/>
                    <a:p>
                      <a:pPr fontAlgn="t">
                        <a:buNone/>
                      </a:pPr>
                      <a:br>
                        <a:rPr lang="en-US" sz="900">
                          <a:effectLst/>
                        </a:rPr>
                      </a:br>
                      <a:endParaRPr lang="en-US" sz="900">
                        <a:effectLst/>
                      </a:endParaRPr>
                    </a:p>
                  </a:txBody>
                  <a:tcPr marL="41264" marR="41264" marT="41264" marB="41264">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3C47D"/>
                    </a:solidFill>
                  </a:tcPr>
                </a:tc>
                <a:extLst>
                  <a:ext uri="{0D108BD9-81ED-4DB2-BD59-A6C34878D82A}">
                    <a16:rowId xmlns:a16="http://schemas.microsoft.com/office/drawing/2014/main" val="2762305436"/>
                  </a:ext>
                </a:extLst>
              </a:tr>
            </a:tbl>
          </a:graphicData>
        </a:graphic>
      </p:graphicFrame>
    </p:spTree>
    <p:extLst>
      <p:ext uri="{BB962C8B-B14F-4D97-AF65-F5344CB8AC3E}">
        <p14:creationId xmlns:p14="http://schemas.microsoft.com/office/powerpoint/2010/main" val="3988425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85302-37BA-AFC0-48B8-3C5C7CEA96E9}"/>
              </a:ext>
            </a:extLst>
          </p:cNvPr>
          <p:cNvSpPr>
            <a:spLocks noGrp="1"/>
          </p:cNvSpPr>
          <p:nvPr>
            <p:ph type="title"/>
          </p:nvPr>
        </p:nvSpPr>
        <p:spPr/>
        <p:txBody>
          <a:bodyPr/>
          <a:lstStyle/>
          <a:p>
            <a:r>
              <a:rPr lang="en-US"/>
              <a:t>References</a:t>
            </a:r>
          </a:p>
        </p:txBody>
      </p:sp>
      <p:sp>
        <p:nvSpPr>
          <p:cNvPr id="3" name="Text Placeholder 2">
            <a:extLst>
              <a:ext uri="{FF2B5EF4-FFF2-40B4-BE49-F238E27FC236}">
                <a16:creationId xmlns:a16="http://schemas.microsoft.com/office/drawing/2014/main" id="{772BE031-DC62-916F-39D7-42A95EA11FF6}"/>
              </a:ext>
            </a:extLst>
          </p:cNvPr>
          <p:cNvSpPr>
            <a:spLocks noGrp="1"/>
          </p:cNvSpPr>
          <p:nvPr>
            <p:ph type="body" idx="1"/>
          </p:nvPr>
        </p:nvSpPr>
        <p:spPr/>
        <p:txBody>
          <a:bodyPr/>
          <a:lstStyle/>
          <a:p>
            <a:pPr marL="114300" indent="0">
              <a:buNone/>
            </a:pPr>
            <a:endParaRPr lang="en-US">
              <a:solidFill>
                <a:schemeClr val="dk1"/>
              </a:solidFill>
            </a:endParaRPr>
          </a:p>
          <a:p>
            <a:r>
              <a:rPr lang="en-US">
                <a:solidFill>
                  <a:schemeClr val="dk1"/>
                </a:solidFill>
                <a:latin typeface="Gill Sans MT"/>
                <a:cs typeface="Arial"/>
              </a:rPr>
              <a:t>M. N. Imtiaz and N. Khan, "Pan-Tompkins++: A Robust Approach to Detect R-peaks in ECG Signals," 2022 IEEE International Conference on Bioinformatics and Biomedicine (BIBM), Las Vegas, NV, USA, 2022, pp. 2905-2912, </a:t>
            </a:r>
            <a:r>
              <a:rPr lang="en-US" err="1">
                <a:solidFill>
                  <a:schemeClr val="dk1"/>
                </a:solidFill>
                <a:latin typeface="Gill Sans MT"/>
                <a:cs typeface="Arial"/>
              </a:rPr>
              <a:t>doi</a:t>
            </a:r>
            <a:r>
              <a:rPr lang="en-US">
                <a:solidFill>
                  <a:schemeClr val="dk1"/>
                </a:solidFill>
                <a:latin typeface="Gill Sans MT"/>
                <a:cs typeface="Arial"/>
              </a:rPr>
              <a:t>: 10.1109/BIBM55620.2022.9995552.</a:t>
            </a:r>
            <a:endParaRPr lang="en-US">
              <a:solidFill>
                <a:schemeClr val="dk1"/>
              </a:solidFill>
              <a:latin typeface="Gill Sans MT"/>
            </a:endParaRPr>
          </a:p>
          <a:p>
            <a:r>
              <a:rPr lang="en-US">
                <a:solidFill>
                  <a:schemeClr val="dk1"/>
                </a:solidFill>
                <a:latin typeface="Gill Sans MT"/>
                <a:cs typeface="Arial"/>
              </a:rPr>
              <a:t>C. B. Güngör, P. P. Mercier and H. Töreyin, "A 1.2nW Analog Electrocardiogram Processor Achieving a 99.63% QRS Complex Detection Sensitivity," in IEEE Transactions on Biomedical Circuits and Systems, vol. 15, no. 3, pp. 617-628, June 2021, </a:t>
            </a:r>
            <a:r>
              <a:rPr lang="en-US" err="1">
                <a:solidFill>
                  <a:schemeClr val="dk1"/>
                </a:solidFill>
                <a:latin typeface="Gill Sans MT"/>
                <a:cs typeface="Arial"/>
              </a:rPr>
              <a:t>doi</a:t>
            </a:r>
            <a:r>
              <a:rPr lang="en-US">
                <a:solidFill>
                  <a:schemeClr val="dk1"/>
                </a:solidFill>
                <a:latin typeface="Gill Sans MT"/>
                <a:cs typeface="Arial"/>
              </a:rPr>
              <a:t>: 10.1109/TBCAS.2021.3092729. </a:t>
            </a:r>
            <a:endParaRPr lang="en-US">
              <a:solidFill>
                <a:schemeClr val="dk1"/>
              </a:solidFill>
            </a:endParaRPr>
          </a:p>
          <a:p>
            <a:r>
              <a:rPr lang="en-US">
                <a:solidFill>
                  <a:srgbClr val="000000"/>
                </a:solidFill>
                <a:latin typeface="Gill Sans MT"/>
                <a:cs typeface="Arial"/>
              </a:rPr>
              <a:t>Goud, P. Satyanaraya. ECG SIGNAL PROCESSING FOR COMPUTATION OF BPM USING PAN-TOMPKINS ALGORITHM AND HARDWARE IMPLEMENTATION. Archers &amp; Elevators Publishing House.</a:t>
            </a:r>
            <a:endParaRPr lang="en-US">
              <a:solidFill>
                <a:schemeClr val="dk1"/>
              </a:solidFill>
              <a:cs typeface="Arial"/>
            </a:endParaRPr>
          </a:p>
          <a:p>
            <a:r>
              <a:rPr lang="en-US">
                <a:solidFill>
                  <a:srgbClr val="000000"/>
                </a:solidFill>
                <a:ea typeface="+mn-lt"/>
                <a:cs typeface="+mn-lt"/>
              </a:rPr>
              <a:t>Serhani, Mohamed Adel, Hadeel T. El Kassabi, Heba Ismail, and Alramzana Nujum Navaz. 2020. "ECG Monitoring Systems: Review, Architecture, Processes, and Key Challenges" Sensors 20, no. 6: 1796. https://doi.org/10.3390/s20061796</a:t>
            </a:r>
            <a:endParaRPr lang="en-US">
              <a:solidFill>
                <a:srgbClr val="000000"/>
              </a:solidFill>
              <a:cs typeface="Arial"/>
            </a:endParaRPr>
          </a:p>
          <a:p>
            <a:endParaRPr lang="en-US"/>
          </a:p>
        </p:txBody>
      </p:sp>
    </p:spTree>
    <p:extLst>
      <p:ext uri="{BB962C8B-B14F-4D97-AF65-F5344CB8AC3E}">
        <p14:creationId xmlns:p14="http://schemas.microsoft.com/office/powerpoint/2010/main" val="95617924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Parcel</Template>
  <Application>Microsoft Office PowerPoint</Application>
  <PresentationFormat>On-screen Show (16:9)</PresentationFormat>
  <Slides>12</Slides>
  <Notes>3</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Parcel</vt:lpstr>
      <vt:lpstr>Biosignal Foundry</vt:lpstr>
      <vt:lpstr>Project information</vt:lpstr>
      <vt:lpstr>System Architecture</vt:lpstr>
      <vt:lpstr>Chopper Stabilized INSTRUMENTATION Amplifier</vt:lpstr>
      <vt:lpstr>CCIA</vt:lpstr>
      <vt:lpstr>BandGap Reference</vt:lpstr>
      <vt:lpstr>SECOND ORDER DTDSM ADC</vt:lpstr>
      <vt:lpstr>R-R detection using pan Tompkins</vt:lpstr>
      <vt:lpstr>Pin Assignment</vt:lpstr>
      <vt:lpstr>Team background</vt:lpstr>
      <vt:lpstr>timeline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83</cp:revision>
  <dcterms:modified xsi:type="dcterms:W3CDTF">2026-06-12T03:49:44Z</dcterms:modified>
</cp:coreProperties>
</file>